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6366F1"/>
          </a:solidFill>
          <a:ln w="12700">
            <a:solidFill>
              <a:srgbClr val="6366F1"/>
            </a:solidFill>
            <a:prstDash val="solid"/>
          </a:ln>
        </p:spPr>
      </p:sp>
      <p:sp>
        <p:nvSpPr>
          <p:cNvPr id="3" name="Shape 1"/>
          <p:cNvSpPr/>
          <p:nvPr/>
        </p:nvSpPr>
        <p:spPr>
          <a:xfrm>
            <a:off x="5760720" y="182880"/>
            <a:ext cx="3291840" cy="3291840"/>
          </a:xfrm>
          <a:prstGeom prst="ellipse">
            <a:avLst/>
          </a:prstGeom>
          <a:solidFill>
            <a:srgbClr val="6366F1">
              <a:alpha val="11000"/>
            </a:srgbClr>
          </a:solidFill>
          <a:ln w="12700">
            <a:solidFill>
              <a:srgbClr val="6366F1"/>
            </a:solidFill>
            <a:prstDash val="solid"/>
          </a:ln>
        </p:spPr>
      </p:sp>
      <p:sp>
        <p:nvSpPr>
          <p:cNvPr id="4" name="Shape 2"/>
          <p:cNvSpPr/>
          <p:nvPr/>
        </p:nvSpPr>
        <p:spPr>
          <a:xfrm>
            <a:off x="6583680" y="914400"/>
            <a:ext cx="2103120" cy="2103120"/>
          </a:xfrm>
          <a:prstGeom prst="ellipse">
            <a:avLst/>
          </a:prstGeom>
          <a:solidFill>
            <a:srgbClr val="14B8A6">
              <a:alpha val="12000"/>
            </a:srgbClr>
          </a:solidFill>
          <a:ln w="12700">
            <a:solidFill>
              <a:srgbClr val="14B8A6"/>
            </a:solidFill>
            <a:prstDash val="solid"/>
          </a:ln>
        </p:spPr>
      </p:sp>
      <p:sp>
        <p:nvSpPr>
          <p:cNvPr id="5" name="Text 3"/>
          <p:cNvSpPr/>
          <p:nvPr/>
        </p:nvSpPr>
        <p:spPr>
          <a:xfrm>
            <a:off x="347472" y="457200"/>
            <a:ext cx="4572000" cy="228600"/>
          </a:xfrm>
          <a:prstGeom prst="rect">
            <a:avLst/>
          </a:prstGeom>
          <a:noFill/>
          <a:ln/>
        </p:spPr>
        <p:txBody>
          <a:bodyPr wrap="square" lIns="0" tIns="0" rIns="0" bIns="0" rtlCol="0" anchor="ctr"/>
          <a:lstStyle/>
          <a:p>
            <a:pPr indent="0" marL="0">
              <a:buNone/>
            </a:pPr>
            <a:r>
              <a:rPr lang="en-US" sz="900" b="1" spc="500" kern="0" dirty="0">
                <a:solidFill>
                  <a:srgbClr val="818CF8"/>
                </a:solidFill>
              </a:rPr>
              <a:t>DEMO  •  2026</a:t>
            </a:r>
            <a:endParaRPr lang="en-US" sz="900" dirty="0"/>
          </a:p>
        </p:txBody>
      </p:sp>
      <p:sp>
        <p:nvSpPr>
          <p:cNvPr id="6" name="Text 4"/>
          <p:cNvSpPr/>
          <p:nvPr/>
        </p:nvSpPr>
        <p:spPr>
          <a:xfrm>
            <a:off x="347472" y="749808"/>
            <a:ext cx="5029200" cy="960120"/>
          </a:xfrm>
          <a:prstGeom prst="rect">
            <a:avLst/>
          </a:prstGeom>
          <a:noFill/>
          <a:ln/>
        </p:spPr>
        <p:txBody>
          <a:bodyPr wrap="square" lIns="0" tIns="0" rIns="0" bIns="0" rtlCol="0" anchor="ctr"/>
          <a:lstStyle/>
          <a:p>
            <a:pPr indent="0" marL="0">
              <a:buNone/>
            </a:pPr>
            <a:r>
              <a:rPr lang="en-US" sz="6200" b="1" dirty="0">
                <a:solidFill>
                  <a:srgbClr val="F1F5F9"/>
                </a:solidFill>
                <a:latin typeface="Calibri" pitchFamily="34" charset="0"/>
                <a:ea typeface="Calibri" pitchFamily="34" charset="-122"/>
                <a:cs typeface="Calibri" pitchFamily="34" charset="-120"/>
              </a:rPr>
              <a:t>docbase</a:t>
            </a:r>
            <a:endParaRPr lang="en-US" sz="6200" dirty="0"/>
          </a:p>
        </p:txBody>
      </p:sp>
      <p:sp>
        <p:nvSpPr>
          <p:cNvPr id="7" name="Text 5"/>
          <p:cNvSpPr/>
          <p:nvPr/>
        </p:nvSpPr>
        <p:spPr>
          <a:xfrm>
            <a:off x="347472" y="1783080"/>
            <a:ext cx="5212080" cy="804672"/>
          </a:xfrm>
          <a:prstGeom prst="rect">
            <a:avLst/>
          </a:prstGeom>
          <a:noFill/>
          <a:ln/>
        </p:spPr>
        <p:txBody>
          <a:bodyPr wrap="square" lIns="0" tIns="0" rIns="0" bIns="0" rtlCol="0" anchor="ctr"/>
          <a:lstStyle/>
          <a:p>
            <a:pPr algn="l" indent="0" marL="0">
              <a:buNone/>
            </a:pPr>
            <a:r>
              <a:rPr lang="en-US" sz="1450" dirty="0">
                <a:solidFill>
                  <a:srgbClr val="F1F5F9"/>
                </a:solidFill>
                <a:latin typeface="Calibri" pitchFamily="34" charset="0"/>
                <a:ea typeface="Calibri" pitchFamily="34" charset="-122"/>
                <a:cs typeface="Calibri" pitchFamily="34" charset="-120"/>
              </a:rPr>
              <a:t>You index your knowledge. Visitors ask questions.</a:t>
            </a:r>
            <a:endParaRPr lang="en-US" sz="1450" dirty="0"/>
          </a:p>
          <a:p>
            <a:pPr algn="l" indent="0" marL="0">
              <a:buNone/>
            </a:pPr>
            <a:r>
              <a:rPr lang="en-US" sz="1450" dirty="0">
                <a:solidFill>
                  <a:srgbClr val="F1F5F9"/>
                </a:solidFill>
                <a:latin typeface="Calibri" pitchFamily="34" charset="0"/>
                <a:ea typeface="Calibri" pitchFamily="34" charset="-122"/>
                <a:cs typeface="Calibri" pitchFamily="34" charset="-120"/>
              </a:rPr>
              <a:t>Answers stay tied to what you approved — not the open internet.</a:t>
            </a:r>
            <a:endParaRPr lang="en-US" sz="1450" dirty="0"/>
          </a:p>
        </p:txBody>
      </p:sp>
      <p:sp>
        <p:nvSpPr>
          <p:cNvPr id="8" name="Text 6"/>
          <p:cNvSpPr/>
          <p:nvPr/>
        </p:nvSpPr>
        <p:spPr>
          <a:xfrm>
            <a:off x="347472" y="2670048"/>
            <a:ext cx="5029200" cy="68580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A multi-tenant RAG platform with hybrid retrieval, a synchronous LLM-as-judge quality gate, and a full production deployment on AWS.</a:t>
            </a:r>
            <a:endParaRPr lang="en-US" sz="1100" dirty="0"/>
          </a:p>
        </p:txBody>
      </p:sp>
      <p:sp>
        <p:nvSpPr>
          <p:cNvPr id="9" name="Shape 7"/>
          <p:cNvSpPr/>
          <p:nvPr/>
        </p:nvSpPr>
        <p:spPr>
          <a:xfrm>
            <a:off x="347472" y="4370832"/>
            <a:ext cx="1572768" cy="347472"/>
          </a:xfrm>
          <a:prstGeom prst="rect">
            <a:avLst/>
          </a:prstGeom>
          <a:solidFill>
            <a:srgbClr val="818CF8">
              <a:alpha val="16000"/>
            </a:srgbClr>
          </a:solidFill>
          <a:ln w="12700">
            <a:solidFill>
              <a:srgbClr val="818CF8"/>
            </a:solidFill>
            <a:prstDash val="solid"/>
          </a:ln>
        </p:spPr>
      </p:sp>
      <p:sp>
        <p:nvSpPr>
          <p:cNvPr id="10" name="Text 8"/>
          <p:cNvSpPr/>
          <p:nvPr/>
        </p:nvSpPr>
        <p:spPr>
          <a:xfrm>
            <a:off x="347472" y="4370832"/>
            <a:ext cx="1572768" cy="347472"/>
          </a:xfrm>
          <a:prstGeom prst="rect">
            <a:avLst/>
          </a:prstGeom>
          <a:noFill/>
          <a:ln/>
        </p:spPr>
        <p:txBody>
          <a:bodyPr wrap="square" lIns="0" tIns="0" rIns="0" bIns="0" rtlCol="0" anchor="ctr"/>
          <a:lstStyle/>
          <a:p>
            <a:pPr algn="ctr" indent="0" marL="0">
              <a:buNone/>
            </a:pPr>
            <a:r>
              <a:rPr lang="en-US" sz="950" b="1" dirty="0">
                <a:solidFill>
                  <a:srgbClr val="818CF8"/>
                </a:solidFill>
              </a:rPr>
              <a:t>Hybrid RAG</a:t>
            </a:r>
            <a:endParaRPr lang="en-US" sz="950" dirty="0"/>
          </a:p>
        </p:txBody>
      </p:sp>
      <p:sp>
        <p:nvSpPr>
          <p:cNvPr id="11" name="Shape 9"/>
          <p:cNvSpPr/>
          <p:nvPr/>
        </p:nvSpPr>
        <p:spPr>
          <a:xfrm>
            <a:off x="1993392" y="4370832"/>
            <a:ext cx="1572768" cy="347472"/>
          </a:xfrm>
          <a:prstGeom prst="rect">
            <a:avLst/>
          </a:prstGeom>
          <a:solidFill>
            <a:srgbClr val="14B8A6">
              <a:alpha val="16000"/>
            </a:srgbClr>
          </a:solidFill>
          <a:ln w="12700">
            <a:solidFill>
              <a:srgbClr val="14B8A6"/>
            </a:solidFill>
            <a:prstDash val="solid"/>
          </a:ln>
        </p:spPr>
      </p:sp>
      <p:sp>
        <p:nvSpPr>
          <p:cNvPr id="12" name="Text 10"/>
          <p:cNvSpPr/>
          <p:nvPr/>
        </p:nvSpPr>
        <p:spPr>
          <a:xfrm>
            <a:off x="1993392" y="4370832"/>
            <a:ext cx="1572768" cy="347472"/>
          </a:xfrm>
          <a:prstGeom prst="rect">
            <a:avLst/>
          </a:prstGeom>
          <a:noFill/>
          <a:ln/>
        </p:spPr>
        <p:txBody>
          <a:bodyPr wrap="square" lIns="0" tIns="0" rIns="0" bIns="0" rtlCol="0" anchor="ctr"/>
          <a:lstStyle/>
          <a:p>
            <a:pPr algn="ctr" indent="0" marL="0">
              <a:buNone/>
            </a:pPr>
            <a:r>
              <a:rPr lang="en-US" sz="950" b="1" dirty="0">
                <a:solidFill>
                  <a:srgbClr val="14B8A6"/>
                </a:solidFill>
              </a:rPr>
              <a:t>LLM-as-judge</a:t>
            </a:r>
            <a:endParaRPr lang="en-US" sz="950" dirty="0"/>
          </a:p>
        </p:txBody>
      </p:sp>
      <p:sp>
        <p:nvSpPr>
          <p:cNvPr id="13" name="Shape 11"/>
          <p:cNvSpPr/>
          <p:nvPr/>
        </p:nvSpPr>
        <p:spPr>
          <a:xfrm>
            <a:off x="3639312" y="4370832"/>
            <a:ext cx="1572768" cy="347472"/>
          </a:xfrm>
          <a:prstGeom prst="rect">
            <a:avLst/>
          </a:prstGeom>
          <a:solidFill>
            <a:srgbClr val="6366F1">
              <a:alpha val="16000"/>
            </a:srgbClr>
          </a:solidFill>
          <a:ln w="12700">
            <a:solidFill>
              <a:srgbClr val="6366F1"/>
            </a:solidFill>
            <a:prstDash val="solid"/>
          </a:ln>
        </p:spPr>
      </p:sp>
      <p:sp>
        <p:nvSpPr>
          <p:cNvPr id="14" name="Text 12"/>
          <p:cNvSpPr/>
          <p:nvPr/>
        </p:nvSpPr>
        <p:spPr>
          <a:xfrm>
            <a:off x="3639312" y="4370832"/>
            <a:ext cx="1572768" cy="347472"/>
          </a:xfrm>
          <a:prstGeom prst="rect">
            <a:avLst/>
          </a:prstGeom>
          <a:noFill/>
          <a:ln/>
        </p:spPr>
        <p:txBody>
          <a:bodyPr wrap="square" lIns="0" tIns="0" rIns="0" bIns="0" rtlCol="0" anchor="ctr"/>
          <a:lstStyle/>
          <a:p>
            <a:pPr algn="ctr" indent="0" marL="0">
              <a:buNone/>
            </a:pPr>
            <a:r>
              <a:rPr lang="en-US" sz="950" b="1" dirty="0">
                <a:solidFill>
                  <a:srgbClr val="6366F1"/>
                </a:solidFill>
              </a:rPr>
              <a:t>Multi-tenant</a:t>
            </a:r>
            <a:endParaRPr lang="en-US" sz="950" dirty="0"/>
          </a:p>
        </p:txBody>
      </p:sp>
      <p:sp>
        <p:nvSpPr>
          <p:cNvPr id="15" name="Shape 13"/>
          <p:cNvSpPr/>
          <p:nvPr/>
        </p:nvSpPr>
        <p:spPr>
          <a:xfrm>
            <a:off x="5285232" y="4370832"/>
            <a:ext cx="1572768" cy="347472"/>
          </a:xfrm>
          <a:prstGeom prst="rect">
            <a:avLst/>
          </a:prstGeom>
          <a:solidFill>
            <a:srgbClr val="F59E0B">
              <a:alpha val="16000"/>
            </a:srgbClr>
          </a:solidFill>
          <a:ln w="12700">
            <a:solidFill>
              <a:srgbClr val="F59E0B"/>
            </a:solidFill>
            <a:prstDash val="solid"/>
          </a:ln>
        </p:spPr>
      </p:sp>
      <p:sp>
        <p:nvSpPr>
          <p:cNvPr id="16" name="Text 14"/>
          <p:cNvSpPr/>
          <p:nvPr/>
        </p:nvSpPr>
        <p:spPr>
          <a:xfrm>
            <a:off x="5285232" y="4370832"/>
            <a:ext cx="1572768" cy="347472"/>
          </a:xfrm>
          <a:prstGeom prst="rect">
            <a:avLst/>
          </a:prstGeom>
          <a:noFill/>
          <a:ln/>
        </p:spPr>
        <p:txBody>
          <a:bodyPr wrap="square" lIns="0" tIns="0" rIns="0" bIns="0" rtlCol="0" anchor="ctr"/>
          <a:lstStyle/>
          <a:p>
            <a:pPr algn="ctr" indent="0" marL="0">
              <a:buNone/>
            </a:pPr>
            <a:r>
              <a:rPr lang="en-US" sz="950" b="1" dirty="0">
                <a:solidFill>
                  <a:srgbClr val="F59E0B"/>
                </a:solidFill>
              </a:rPr>
              <a:t>Terraform + GH Actions</a:t>
            </a:r>
            <a:endParaRPr lang="en-US" sz="950" dirty="0"/>
          </a:p>
        </p:txBody>
      </p:sp>
      <p:sp>
        <p:nvSpPr>
          <p:cNvPr id="17" name="Shape 15"/>
          <p:cNvSpPr/>
          <p:nvPr/>
        </p:nvSpPr>
        <p:spPr>
          <a:xfrm>
            <a:off x="6931152" y="4370832"/>
            <a:ext cx="1572768" cy="347472"/>
          </a:xfrm>
          <a:prstGeom prst="rect">
            <a:avLst/>
          </a:prstGeom>
          <a:solidFill>
            <a:srgbClr val="F43F5E">
              <a:alpha val="16000"/>
            </a:srgbClr>
          </a:solidFill>
          <a:ln w="12700">
            <a:solidFill>
              <a:srgbClr val="F43F5E"/>
            </a:solidFill>
            <a:prstDash val="solid"/>
          </a:ln>
        </p:spPr>
      </p:sp>
      <p:sp>
        <p:nvSpPr>
          <p:cNvPr id="18" name="Text 16"/>
          <p:cNvSpPr/>
          <p:nvPr/>
        </p:nvSpPr>
        <p:spPr>
          <a:xfrm>
            <a:off x="6931152" y="4370832"/>
            <a:ext cx="1572768" cy="347472"/>
          </a:xfrm>
          <a:prstGeom prst="rect">
            <a:avLst/>
          </a:prstGeom>
          <a:noFill/>
          <a:ln/>
        </p:spPr>
        <p:txBody>
          <a:bodyPr wrap="square" lIns="0" tIns="0" rIns="0" bIns="0" rtlCol="0" anchor="ctr"/>
          <a:lstStyle/>
          <a:p>
            <a:pPr algn="ctr" indent="0" marL="0">
              <a:buNone/>
            </a:pPr>
            <a:r>
              <a:rPr lang="en-US" sz="950" b="1" dirty="0">
                <a:solidFill>
                  <a:srgbClr val="F43F5E"/>
                </a:solidFill>
              </a:rPr>
              <a:t>AWS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6366F1"/>
          </a:solidFill>
          <a:ln w="12700">
            <a:solidFill>
              <a:srgbClr val="6366F1"/>
            </a:solidFill>
            <a:prstDash val="solid"/>
          </a:ln>
        </p:spPr>
      </p:sp>
      <p:sp>
        <p:nvSpPr>
          <p:cNvPr id="3" name="Text 1"/>
          <p:cNvSpPr/>
          <p:nvPr/>
        </p:nvSpPr>
        <p:spPr>
          <a:xfrm>
            <a:off x="457200" y="182880"/>
            <a:ext cx="8229600" cy="237744"/>
          </a:xfrm>
          <a:prstGeom prst="rect">
            <a:avLst/>
          </a:prstGeom>
          <a:noFill/>
          <a:ln/>
        </p:spPr>
        <p:txBody>
          <a:bodyPr wrap="square" lIns="0" tIns="0" rIns="0" bIns="0" rtlCol="0" anchor="ctr"/>
          <a:lstStyle/>
          <a:p>
            <a:pPr indent="0" marL="0">
              <a:buNone/>
            </a:pPr>
            <a:r>
              <a:rPr lang="en-US" sz="900" b="1" spc="500" kern="0" dirty="0">
                <a:solidFill>
                  <a:srgbClr val="6366F1"/>
                </a:solidFill>
              </a:rPr>
              <a:t>THE PROBLEM</a:t>
            </a:r>
            <a:endParaRPr lang="en-US" sz="900" dirty="0"/>
          </a:p>
        </p:txBody>
      </p:sp>
      <p:sp>
        <p:nvSpPr>
          <p:cNvPr id="4" name="Text 2"/>
          <p:cNvSpPr/>
          <p:nvPr/>
        </p:nvSpPr>
        <p:spPr>
          <a:xfrm>
            <a:off x="457200" y="457200"/>
            <a:ext cx="8229600" cy="749808"/>
          </a:xfrm>
          <a:prstGeom prst="rect">
            <a:avLst/>
          </a:prstGeom>
          <a:noFill/>
          <a:ln/>
        </p:spPr>
        <p:txBody>
          <a:bodyPr wrap="square" lIns="0" tIns="0" rIns="0" bIns="0" rtlCol="0" anchor="ctr"/>
          <a:lstStyle/>
          <a:p>
            <a:pPr algn="l" indent="0" marL="0">
              <a:buNone/>
            </a:pPr>
            <a:r>
              <a:rPr lang="en-US" sz="2400" b="1" dirty="0">
                <a:solidFill>
                  <a:srgbClr val="111827"/>
                </a:solidFill>
                <a:latin typeface="Calibri" pitchFamily="34" charset="0"/>
                <a:ea typeface="Calibri" pitchFamily="34" charset="-122"/>
                <a:cs typeface="Calibri" pitchFamily="34" charset="-120"/>
              </a:rPr>
              <a:t>Your knowledge is stuck behind a conversation you're not in.</a:t>
            </a:r>
            <a:endParaRPr lang="en-US" sz="2400" dirty="0"/>
          </a:p>
        </p:txBody>
      </p:sp>
      <p:sp>
        <p:nvSpPr>
          <p:cNvPr id="5" name="Shape 3"/>
          <p:cNvSpPr/>
          <p:nvPr/>
        </p:nvSpPr>
        <p:spPr>
          <a:xfrm>
            <a:off x="347472" y="1325880"/>
            <a:ext cx="2697480" cy="2487168"/>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6" name="Shape 4"/>
          <p:cNvSpPr/>
          <p:nvPr/>
        </p:nvSpPr>
        <p:spPr>
          <a:xfrm>
            <a:off x="347472" y="1325880"/>
            <a:ext cx="45720" cy="2487168"/>
          </a:xfrm>
          <a:prstGeom prst="rect">
            <a:avLst/>
          </a:prstGeom>
          <a:solidFill>
            <a:srgbClr val="6366F1"/>
          </a:solidFill>
          <a:ln w="12700">
            <a:solidFill>
              <a:srgbClr val="6366F1"/>
            </a:solidFill>
            <a:prstDash val="solid"/>
          </a:ln>
        </p:spPr>
      </p:sp>
      <p:sp>
        <p:nvSpPr>
          <p:cNvPr id="7" name="Text 5"/>
          <p:cNvSpPr/>
          <p:nvPr/>
        </p:nvSpPr>
        <p:spPr>
          <a:xfrm>
            <a:off x="475488" y="1417320"/>
            <a:ext cx="2450592" cy="566928"/>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People who need your knowledge can't access it interactively</a:t>
            </a:r>
            <a:endParaRPr lang="en-US" sz="1100" dirty="0"/>
          </a:p>
        </p:txBody>
      </p:sp>
      <p:sp>
        <p:nvSpPr>
          <p:cNvPr id="8" name="Text 6"/>
          <p:cNvSpPr/>
          <p:nvPr/>
        </p:nvSpPr>
        <p:spPr>
          <a:xfrm>
            <a:off x="475488" y="2029968"/>
            <a:ext cx="2450592" cy="166420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Recruiters, clients, and stakeholders get a static PDF or a calendar booking link. There's no way for them to explore your work, ask follow-up questions, or find the answer they need — without you being present.</a:t>
            </a:r>
            <a:endParaRPr lang="en-US" sz="950" dirty="0"/>
          </a:p>
        </p:txBody>
      </p:sp>
      <p:sp>
        <p:nvSpPr>
          <p:cNvPr id="9" name="Shape 7"/>
          <p:cNvSpPr/>
          <p:nvPr/>
        </p:nvSpPr>
        <p:spPr>
          <a:xfrm>
            <a:off x="3200400" y="1325880"/>
            <a:ext cx="2697480" cy="2487168"/>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10" name="Shape 8"/>
          <p:cNvSpPr/>
          <p:nvPr/>
        </p:nvSpPr>
        <p:spPr>
          <a:xfrm>
            <a:off x="3200400" y="1325880"/>
            <a:ext cx="45720" cy="2487168"/>
          </a:xfrm>
          <a:prstGeom prst="rect">
            <a:avLst/>
          </a:prstGeom>
          <a:solidFill>
            <a:srgbClr val="6366F1"/>
          </a:solidFill>
          <a:ln w="12700">
            <a:solidFill>
              <a:srgbClr val="6366F1"/>
            </a:solidFill>
            <a:prstDash val="solid"/>
          </a:ln>
        </p:spPr>
      </p:sp>
      <p:sp>
        <p:nvSpPr>
          <p:cNvPr id="11" name="Text 9"/>
          <p:cNvSpPr/>
          <p:nvPr/>
        </p:nvSpPr>
        <p:spPr>
          <a:xfrm>
            <a:off x="3328416" y="1417320"/>
            <a:ext cx="2450592" cy="566928"/>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Uploading to ChatGPT doesn't solve the sharing problem</a:t>
            </a:r>
            <a:endParaRPr lang="en-US" sz="1100" dirty="0"/>
          </a:p>
        </p:txBody>
      </p:sp>
      <p:sp>
        <p:nvSpPr>
          <p:cNvPr id="12" name="Text 10"/>
          <p:cNvSpPr/>
          <p:nvPr/>
        </p:nvSpPr>
        <p:spPr>
          <a:xfrm>
            <a:off x="3328416" y="2029968"/>
            <a:ext cx="2450592" cy="166420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That conversation is yours alone. It ends when you close the tab. There's no public URL, no persistent agent, no persona. It's a one-off, single-user interaction — not something you can share with 50 people simultaneously.</a:t>
            </a:r>
            <a:endParaRPr lang="en-US" sz="950" dirty="0"/>
          </a:p>
        </p:txBody>
      </p:sp>
      <p:sp>
        <p:nvSpPr>
          <p:cNvPr id="13" name="Shape 11"/>
          <p:cNvSpPr/>
          <p:nvPr/>
        </p:nvSpPr>
        <p:spPr>
          <a:xfrm>
            <a:off x="6053328" y="1325880"/>
            <a:ext cx="2697480" cy="2487168"/>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14" name="Shape 12"/>
          <p:cNvSpPr/>
          <p:nvPr/>
        </p:nvSpPr>
        <p:spPr>
          <a:xfrm>
            <a:off x="6053328" y="1325880"/>
            <a:ext cx="45720" cy="2487168"/>
          </a:xfrm>
          <a:prstGeom prst="rect">
            <a:avLst/>
          </a:prstGeom>
          <a:solidFill>
            <a:srgbClr val="6366F1"/>
          </a:solidFill>
          <a:ln w="12700">
            <a:solidFill>
              <a:srgbClr val="6366F1"/>
            </a:solidFill>
            <a:prstDash val="solid"/>
          </a:ln>
        </p:spPr>
      </p:sp>
      <p:sp>
        <p:nvSpPr>
          <p:cNvPr id="15" name="Text 13"/>
          <p:cNvSpPr/>
          <p:nvPr/>
        </p:nvSpPr>
        <p:spPr>
          <a:xfrm>
            <a:off x="6181344" y="1417320"/>
            <a:ext cx="2450592" cy="566928"/>
          </a:xfrm>
          <a:prstGeom prst="rect">
            <a:avLst/>
          </a:prstGeom>
          <a:noFill/>
          <a:ln/>
        </p:spPr>
        <p:txBody>
          <a:bodyPr wrap="square" lIns="0" tIns="0" rIns="0" bIns="0"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No middle ground between "share everything" and "build it yourself"</a:t>
            </a:r>
            <a:endParaRPr lang="en-US" sz="1100" dirty="0"/>
          </a:p>
        </p:txBody>
      </p:sp>
      <p:sp>
        <p:nvSpPr>
          <p:cNvPr id="16" name="Text 14"/>
          <p:cNvSpPr/>
          <p:nvPr/>
        </p:nvSpPr>
        <p:spPr>
          <a:xfrm>
            <a:off x="6181344" y="2029968"/>
            <a:ext cx="2450592" cy="1664208"/>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Platform AI (Notion, Drive) is locked to one tool and can't be published as a standalone experience. Building your own RAG pipeline — embeddings, retrieval, API, frontend, auth, deployment — is 4–8 weeks of infrastructure work.</a:t>
            </a:r>
            <a:endParaRPr lang="en-US" sz="950" dirty="0"/>
          </a:p>
        </p:txBody>
      </p:sp>
      <p:sp>
        <p:nvSpPr>
          <p:cNvPr id="17" name="Text 15"/>
          <p:cNvSpPr/>
          <p:nvPr/>
        </p:nvSpPr>
        <p:spPr>
          <a:xfrm>
            <a:off x="457200" y="3913632"/>
            <a:ext cx="8229600" cy="777240"/>
          </a:xfrm>
          <a:prstGeom prst="rect">
            <a:avLst/>
          </a:prstGeom>
          <a:noFill/>
          <a:ln/>
        </p:spPr>
        <p:txBody>
          <a:bodyPr wrap="square" lIns="0" tIns="0" rIns="0" bIns="0" rtlCol="0" anchor="ctr"/>
          <a:lstStyle/>
          <a:p>
            <a:pPr algn="l" indent="0" marL="0">
              <a:buNone/>
            </a:pPr>
            <a:r>
              <a:rPr lang="en-US" sz="1150" b="1" i="1" dirty="0">
                <a:solidFill>
                  <a:srgbClr val="6366F1"/>
                </a:solidFill>
                <a:latin typeface="Calibri" pitchFamily="34" charset="0"/>
                <a:ea typeface="Calibri" pitchFamily="34" charset="-122"/>
                <a:cs typeface="Calibri" pitchFamily="34" charset="-120"/>
              </a:rPr>
              <a:t>docbase closes that gap: attach your documents, get a public URL, let people ask questions. The knowledge is yours. The answers are grounded. The experience is theirs — without you writing a line of infrastructure.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4B8A6"/>
          </a:solidFill>
          <a:ln w="12700">
            <a:solidFill>
              <a:srgbClr val="14B8A6"/>
            </a:solidFill>
            <a:prstDash val="solid"/>
          </a:ln>
        </p:spPr>
      </p:sp>
      <p:sp>
        <p:nvSpPr>
          <p:cNvPr id="3" name="Text 1"/>
          <p:cNvSpPr/>
          <p:nvPr/>
        </p:nvSpPr>
        <p:spPr>
          <a:xfrm>
            <a:off x="457200" y="182880"/>
            <a:ext cx="8229600" cy="237744"/>
          </a:xfrm>
          <a:prstGeom prst="rect">
            <a:avLst/>
          </a:prstGeom>
          <a:noFill/>
          <a:ln/>
        </p:spPr>
        <p:txBody>
          <a:bodyPr wrap="square" lIns="0" tIns="0" rIns="0" bIns="0" rtlCol="0" anchor="ctr"/>
          <a:lstStyle/>
          <a:p>
            <a:pPr indent="0" marL="0">
              <a:buNone/>
            </a:pPr>
            <a:r>
              <a:rPr lang="en-US" sz="900" b="1" spc="500" kern="0" dirty="0">
                <a:solidFill>
                  <a:srgbClr val="14B8A6"/>
                </a:solidFill>
              </a:rPr>
              <a:t>THE PRODUCT</a:t>
            </a:r>
            <a:endParaRPr lang="en-US" sz="900" dirty="0"/>
          </a:p>
        </p:txBody>
      </p:sp>
      <p:sp>
        <p:nvSpPr>
          <p:cNvPr id="4" name="Text 2"/>
          <p:cNvSpPr/>
          <p:nvPr/>
        </p:nvSpPr>
        <p:spPr>
          <a:xfrm>
            <a:off x="457200" y="457200"/>
            <a:ext cx="8229600" cy="658368"/>
          </a:xfrm>
          <a:prstGeom prst="rect">
            <a:avLst/>
          </a:prstGeom>
          <a:noFill/>
          <a:ln/>
        </p:spPr>
        <p:txBody>
          <a:bodyPr wrap="square" lIns="0" tIns="0" rIns="0" bIns="0" rtlCol="0" anchor="ctr"/>
          <a:lstStyle/>
          <a:p>
            <a:pPr algn="l" indent="0" marL="0">
              <a:buNone/>
            </a:pPr>
            <a:r>
              <a:rPr lang="en-US" sz="2200" b="1" dirty="0">
                <a:solidFill>
                  <a:srgbClr val="F1F5F9"/>
                </a:solidFill>
                <a:latin typeface="Calibri" pitchFamily="34" charset="0"/>
                <a:ea typeface="Calibri" pitchFamily="34" charset="-122"/>
                <a:cs typeface="Calibri" pitchFamily="34" charset="-120"/>
              </a:rPr>
              <a:t>docbase — an AI agent that knows exactly what you've chosen to share</a:t>
            </a:r>
            <a:endParaRPr lang="en-US" sz="2200" dirty="0"/>
          </a:p>
        </p:txBody>
      </p:sp>
      <p:sp>
        <p:nvSpPr>
          <p:cNvPr id="5" name="Text 3"/>
          <p:cNvSpPr/>
          <p:nvPr/>
        </p:nvSpPr>
        <p:spPr>
          <a:xfrm>
            <a:off x="457200" y="1152144"/>
            <a:ext cx="8229600" cy="50292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You attach your documents. A twin answers questions about them. Visitors get a conversational interface over your knowledge from a public URL — with answers tied only to what you indexed.</a:t>
            </a:r>
            <a:endParaRPr lang="en-US" sz="1100" dirty="0"/>
          </a:p>
        </p:txBody>
      </p:sp>
      <p:sp>
        <p:nvSpPr>
          <p:cNvPr id="6" name="Shape 4"/>
          <p:cNvSpPr/>
          <p:nvPr/>
        </p:nvSpPr>
        <p:spPr>
          <a:xfrm>
            <a:off x="347472" y="1755648"/>
            <a:ext cx="4041648" cy="749808"/>
          </a:xfrm>
          <a:prstGeom prst="rect">
            <a:avLst/>
          </a:prstGeom>
          <a:solidFill>
            <a:srgbClr val="1E1E2E"/>
          </a:solidFill>
          <a:ln w="12700">
            <a:solidFill>
              <a:srgbClr val="2D2D3F"/>
            </a:solidFill>
            <a:prstDash val="solid"/>
          </a:ln>
        </p:spPr>
      </p:sp>
      <p:sp>
        <p:nvSpPr>
          <p:cNvPr id="7" name="Shape 5"/>
          <p:cNvSpPr/>
          <p:nvPr/>
        </p:nvSpPr>
        <p:spPr>
          <a:xfrm>
            <a:off x="347472" y="1755648"/>
            <a:ext cx="45720" cy="749808"/>
          </a:xfrm>
          <a:prstGeom prst="rect">
            <a:avLst/>
          </a:prstGeom>
          <a:solidFill>
            <a:srgbClr val="14B8A6"/>
          </a:solidFill>
          <a:ln w="12700">
            <a:solidFill>
              <a:srgbClr val="14B8A6"/>
            </a:solidFill>
            <a:prstDash val="solid"/>
          </a:ln>
        </p:spPr>
      </p:sp>
      <p:sp>
        <p:nvSpPr>
          <p:cNvPr id="8" name="Text 6"/>
          <p:cNvSpPr/>
          <p:nvPr/>
        </p:nvSpPr>
        <p:spPr>
          <a:xfrm>
            <a:off x="475488" y="1819656"/>
            <a:ext cx="1097280" cy="219456"/>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Twin</a:t>
            </a:r>
            <a:endParaRPr lang="en-US" sz="1100" dirty="0"/>
          </a:p>
        </p:txBody>
      </p:sp>
      <p:sp>
        <p:nvSpPr>
          <p:cNvPr id="9" name="Text 7"/>
          <p:cNvSpPr/>
          <p:nvPr/>
        </p:nvSpPr>
        <p:spPr>
          <a:xfrm>
            <a:off x="475488" y="2066544"/>
            <a:ext cx="3822192"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An AI agent with a name, a persona, and a defined knowledge boundary. Answers only from what you indexed.</a:t>
            </a:r>
            <a:endParaRPr lang="en-US" sz="950" dirty="0"/>
          </a:p>
        </p:txBody>
      </p:sp>
      <p:sp>
        <p:nvSpPr>
          <p:cNvPr id="10" name="Shape 8"/>
          <p:cNvSpPr/>
          <p:nvPr/>
        </p:nvSpPr>
        <p:spPr>
          <a:xfrm>
            <a:off x="4572000" y="1755648"/>
            <a:ext cx="4041648" cy="749808"/>
          </a:xfrm>
          <a:prstGeom prst="rect">
            <a:avLst/>
          </a:prstGeom>
          <a:solidFill>
            <a:srgbClr val="1E1E2E"/>
          </a:solidFill>
          <a:ln w="12700">
            <a:solidFill>
              <a:srgbClr val="2D2D3F"/>
            </a:solidFill>
            <a:prstDash val="solid"/>
          </a:ln>
        </p:spPr>
      </p:sp>
      <p:sp>
        <p:nvSpPr>
          <p:cNvPr id="11" name="Shape 9"/>
          <p:cNvSpPr/>
          <p:nvPr/>
        </p:nvSpPr>
        <p:spPr>
          <a:xfrm>
            <a:off x="4572000" y="1755648"/>
            <a:ext cx="45720" cy="749808"/>
          </a:xfrm>
          <a:prstGeom prst="rect">
            <a:avLst/>
          </a:prstGeom>
          <a:solidFill>
            <a:srgbClr val="14B8A6"/>
          </a:solidFill>
          <a:ln w="12700">
            <a:solidFill>
              <a:srgbClr val="14B8A6"/>
            </a:solidFill>
            <a:prstDash val="solid"/>
          </a:ln>
        </p:spPr>
      </p:sp>
      <p:sp>
        <p:nvSpPr>
          <p:cNvPr id="12" name="Text 10"/>
          <p:cNvSpPr/>
          <p:nvPr/>
        </p:nvSpPr>
        <p:spPr>
          <a:xfrm>
            <a:off x="4700016" y="1819656"/>
            <a:ext cx="1097280" cy="219456"/>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Source</a:t>
            </a:r>
            <a:endParaRPr lang="en-US" sz="1100" dirty="0"/>
          </a:p>
        </p:txBody>
      </p:sp>
      <p:sp>
        <p:nvSpPr>
          <p:cNvPr id="13" name="Text 11"/>
          <p:cNvSpPr/>
          <p:nvPr/>
        </p:nvSpPr>
        <p:spPr>
          <a:xfrm>
            <a:off x="4700016" y="2066544"/>
            <a:ext cx="3822192"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What you attach: Google Drive files, PDFs, markdown docs, website URLs, manual notes.</a:t>
            </a:r>
            <a:endParaRPr lang="en-US" sz="950" dirty="0"/>
          </a:p>
        </p:txBody>
      </p:sp>
      <p:sp>
        <p:nvSpPr>
          <p:cNvPr id="14" name="Shape 12"/>
          <p:cNvSpPr/>
          <p:nvPr/>
        </p:nvSpPr>
        <p:spPr>
          <a:xfrm>
            <a:off x="347472" y="2596896"/>
            <a:ext cx="4041648" cy="749808"/>
          </a:xfrm>
          <a:prstGeom prst="rect">
            <a:avLst/>
          </a:prstGeom>
          <a:solidFill>
            <a:srgbClr val="1E1E2E"/>
          </a:solidFill>
          <a:ln w="12700">
            <a:solidFill>
              <a:srgbClr val="2D2D3F"/>
            </a:solidFill>
            <a:prstDash val="solid"/>
          </a:ln>
        </p:spPr>
      </p:sp>
      <p:sp>
        <p:nvSpPr>
          <p:cNvPr id="15" name="Shape 13"/>
          <p:cNvSpPr/>
          <p:nvPr/>
        </p:nvSpPr>
        <p:spPr>
          <a:xfrm>
            <a:off x="347472" y="2596896"/>
            <a:ext cx="45720" cy="749808"/>
          </a:xfrm>
          <a:prstGeom prst="rect">
            <a:avLst/>
          </a:prstGeom>
          <a:solidFill>
            <a:srgbClr val="14B8A6"/>
          </a:solidFill>
          <a:ln w="12700">
            <a:solidFill>
              <a:srgbClr val="14B8A6"/>
            </a:solidFill>
            <a:prstDash val="solid"/>
          </a:ln>
        </p:spPr>
      </p:sp>
      <p:sp>
        <p:nvSpPr>
          <p:cNvPr id="16" name="Text 14"/>
          <p:cNvSpPr/>
          <p:nvPr/>
        </p:nvSpPr>
        <p:spPr>
          <a:xfrm>
            <a:off x="475488" y="2660904"/>
            <a:ext cx="1097280" cy="219456"/>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Workspace</a:t>
            </a:r>
            <a:endParaRPr lang="en-US" sz="1100" dirty="0"/>
          </a:p>
        </p:txBody>
      </p:sp>
      <p:sp>
        <p:nvSpPr>
          <p:cNvPr id="17" name="Text 15"/>
          <p:cNvSpPr/>
          <p:nvPr/>
        </p:nvSpPr>
        <p:spPr>
          <a:xfrm>
            <a:off x="475488" y="2907792"/>
            <a:ext cx="3822192"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Groups multiple twins. Routes questions to the right twin — or aggregates across all of them.</a:t>
            </a:r>
            <a:endParaRPr lang="en-US" sz="950" dirty="0"/>
          </a:p>
        </p:txBody>
      </p:sp>
      <p:sp>
        <p:nvSpPr>
          <p:cNvPr id="18" name="Shape 16"/>
          <p:cNvSpPr/>
          <p:nvPr/>
        </p:nvSpPr>
        <p:spPr>
          <a:xfrm>
            <a:off x="4572000" y="2596896"/>
            <a:ext cx="4041648" cy="749808"/>
          </a:xfrm>
          <a:prstGeom prst="rect">
            <a:avLst/>
          </a:prstGeom>
          <a:solidFill>
            <a:srgbClr val="1E1E2E"/>
          </a:solidFill>
          <a:ln w="12700">
            <a:solidFill>
              <a:srgbClr val="2D2D3F"/>
            </a:solidFill>
            <a:prstDash val="solid"/>
          </a:ln>
        </p:spPr>
      </p:sp>
      <p:sp>
        <p:nvSpPr>
          <p:cNvPr id="19" name="Shape 17"/>
          <p:cNvSpPr/>
          <p:nvPr/>
        </p:nvSpPr>
        <p:spPr>
          <a:xfrm>
            <a:off x="4572000" y="2596896"/>
            <a:ext cx="45720" cy="749808"/>
          </a:xfrm>
          <a:prstGeom prst="rect">
            <a:avLst/>
          </a:prstGeom>
          <a:solidFill>
            <a:srgbClr val="14B8A6"/>
          </a:solidFill>
          <a:ln w="12700">
            <a:solidFill>
              <a:srgbClr val="14B8A6"/>
            </a:solidFill>
            <a:prstDash val="solid"/>
          </a:ln>
        </p:spPr>
      </p:sp>
      <p:sp>
        <p:nvSpPr>
          <p:cNvPr id="20" name="Text 18"/>
          <p:cNvSpPr/>
          <p:nvPr/>
        </p:nvSpPr>
        <p:spPr>
          <a:xfrm>
            <a:off x="4700016" y="2660904"/>
            <a:ext cx="1097280" cy="219456"/>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Chunks</a:t>
            </a:r>
            <a:endParaRPr lang="en-US" sz="1100" dirty="0"/>
          </a:p>
        </p:txBody>
      </p:sp>
      <p:sp>
        <p:nvSpPr>
          <p:cNvPr id="21" name="Text 19"/>
          <p:cNvSpPr/>
          <p:nvPr/>
        </p:nvSpPr>
        <p:spPr>
          <a:xfrm>
            <a:off x="4700016" y="2907792"/>
            <a:ext cx="3822192"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How sources are processed: split, vector-embedded, stored for retrieval. Visitors never see chunks — they see answers.</a:t>
            </a:r>
            <a:endParaRPr lang="en-US" sz="950" dirty="0"/>
          </a:p>
        </p:txBody>
      </p:sp>
      <p:sp>
        <p:nvSpPr>
          <p:cNvPr id="22" name="Shape 20"/>
          <p:cNvSpPr/>
          <p:nvPr/>
        </p:nvSpPr>
        <p:spPr>
          <a:xfrm>
            <a:off x="347472" y="3511296"/>
            <a:ext cx="4041648" cy="457200"/>
          </a:xfrm>
          <a:prstGeom prst="rect">
            <a:avLst/>
          </a:prstGeom>
          <a:solidFill>
            <a:srgbClr val="13131A"/>
          </a:solidFill>
          <a:ln w="12700">
            <a:solidFill>
              <a:srgbClr val="2D2D3F"/>
            </a:solidFill>
            <a:prstDash val="solid"/>
          </a:ln>
        </p:spPr>
      </p:sp>
      <p:sp>
        <p:nvSpPr>
          <p:cNvPr id="23" name="Text 21"/>
          <p:cNvSpPr/>
          <p:nvPr/>
        </p:nvSpPr>
        <p:spPr>
          <a:xfrm>
            <a:off x="457200" y="3566160"/>
            <a:ext cx="1097280" cy="182880"/>
          </a:xfrm>
          <a:prstGeom prst="rect">
            <a:avLst/>
          </a:prstGeom>
          <a:noFill/>
          <a:ln/>
        </p:spPr>
        <p:txBody>
          <a:bodyPr wrap="square" lIns="0" tIns="0" rIns="0" bIns="0" rtlCol="0" anchor="ctr"/>
          <a:lstStyle/>
          <a:p>
            <a:pPr indent="0" marL="0">
              <a:buNone/>
            </a:pPr>
            <a:r>
              <a:rPr lang="en-US" sz="1000" b="1" dirty="0">
                <a:solidFill>
                  <a:srgbClr val="818CF8"/>
                </a:solidFill>
                <a:latin typeface="Calibri" pitchFamily="34" charset="0"/>
                <a:ea typeface="Calibri" pitchFamily="34" charset="-122"/>
                <a:cs typeface="Calibri" pitchFamily="34" charset="-120"/>
              </a:rPr>
              <a:t>/t/:slug</a:t>
            </a:r>
            <a:endParaRPr lang="en-US" sz="1000" dirty="0"/>
          </a:p>
        </p:txBody>
      </p:sp>
      <p:sp>
        <p:nvSpPr>
          <p:cNvPr id="24" name="Text 22"/>
          <p:cNvSpPr/>
          <p:nvPr/>
        </p:nvSpPr>
        <p:spPr>
          <a:xfrm>
            <a:off x="1609344" y="3566160"/>
            <a:ext cx="265176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Public twin page — visitors chat with one twin's indexed knowledge.</a:t>
            </a:r>
            <a:endParaRPr lang="en-US" sz="1000" dirty="0"/>
          </a:p>
        </p:txBody>
      </p:sp>
      <p:sp>
        <p:nvSpPr>
          <p:cNvPr id="25" name="Shape 23"/>
          <p:cNvSpPr/>
          <p:nvPr/>
        </p:nvSpPr>
        <p:spPr>
          <a:xfrm>
            <a:off x="4572000" y="3511296"/>
            <a:ext cx="4041648" cy="457200"/>
          </a:xfrm>
          <a:prstGeom prst="rect">
            <a:avLst/>
          </a:prstGeom>
          <a:solidFill>
            <a:srgbClr val="13131A"/>
          </a:solidFill>
          <a:ln w="12700">
            <a:solidFill>
              <a:srgbClr val="2D2D3F"/>
            </a:solidFill>
            <a:prstDash val="solid"/>
          </a:ln>
        </p:spPr>
      </p:sp>
      <p:sp>
        <p:nvSpPr>
          <p:cNvPr id="26" name="Text 24"/>
          <p:cNvSpPr/>
          <p:nvPr/>
        </p:nvSpPr>
        <p:spPr>
          <a:xfrm>
            <a:off x="4681728" y="3566160"/>
            <a:ext cx="1097280" cy="182880"/>
          </a:xfrm>
          <a:prstGeom prst="rect">
            <a:avLst/>
          </a:prstGeom>
          <a:noFill/>
          <a:ln/>
        </p:spPr>
        <p:txBody>
          <a:bodyPr wrap="square" lIns="0" tIns="0" rIns="0" bIns="0" rtlCol="0" anchor="ctr"/>
          <a:lstStyle/>
          <a:p>
            <a:pPr indent="0" marL="0">
              <a:buNone/>
            </a:pPr>
            <a:r>
              <a:rPr lang="en-US" sz="1000" b="1" dirty="0">
                <a:solidFill>
                  <a:srgbClr val="818CF8"/>
                </a:solidFill>
                <a:latin typeface="Calibri" pitchFamily="34" charset="0"/>
                <a:ea typeface="Calibri" pitchFamily="34" charset="-122"/>
                <a:cs typeface="Calibri" pitchFamily="34" charset="-120"/>
              </a:rPr>
              <a:t>/w/:slug</a:t>
            </a:r>
            <a:endParaRPr lang="en-US" sz="1000" dirty="0"/>
          </a:p>
        </p:txBody>
      </p:sp>
      <p:sp>
        <p:nvSpPr>
          <p:cNvPr id="27" name="Text 25"/>
          <p:cNvSpPr/>
          <p:nvPr/>
        </p:nvSpPr>
        <p:spPr>
          <a:xfrm>
            <a:off x="5833872" y="3566160"/>
            <a:ext cx="265176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Workspace chat — questions route to the right twin or aggregate across all.</a:t>
            </a:r>
            <a:endParaRPr lang="en-US" sz="1000" dirty="0"/>
          </a:p>
        </p:txBody>
      </p:sp>
      <p:sp>
        <p:nvSpPr>
          <p:cNvPr id="28" name="Text 26"/>
          <p:cNvSpPr/>
          <p:nvPr/>
        </p:nvSpPr>
        <p:spPr>
          <a:xfrm>
            <a:off x="457200" y="4059936"/>
            <a:ext cx="8229600" cy="566928"/>
          </a:xfrm>
          <a:prstGeom prst="rect">
            <a:avLst/>
          </a:prstGeom>
          <a:noFill/>
          <a:ln/>
        </p:spPr>
        <p:txBody>
          <a:bodyPr wrap="square" lIns="0" tIns="0" rIns="0" bIns="0" rtlCol="0" anchor="ctr"/>
          <a:lstStyle/>
          <a:p>
            <a:pPr algn="l" indent="0" marL="0">
              <a:buNone/>
            </a:pPr>
            <a:r>
              <a:rPr lang="en-US" sz="1050" i="1" dirty="0">
                <a:solidFill>
                  <a:srgbClr val="818CF8"/>
                </a:solidFill>
                <a:latin typeface="Calibri" pitchFamily="34" charset="0"/>
                <a:ea typeface="Calibri" pitchFamily="34" charset="-122"/>
                <a:cs typeface="Calibri" pitchFamily="34" charset="-120"/>
              </a:rPr>
              <a:t>Design decision: The Twin is the top-level abstraction — not the document, not the folder. Attach 10 different sources to one twin and it behaves as one coherent agent with one answer scope and one persona.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6366F1"/>
          </a:solidFill>
          <a:ln w="12700">
            <a:solidFill>
              <a:srgbClr val="6366F1"/>
            </a:solidFill>
            <a:prstDash val="solid"/>
          </a:ln>
        </p:spPr>
      </p:sp>
      <p:sp>
        <p:nvSpPr>
          <p:cNvPr id="3" name="Text 1"/>
          <p:cNvSpPr/>
          <p:nvPr/>
        </p:nvSpPr>
        <p:spPr>
          <a:xfrm>
            <a:off x="457200" y="182880"/>
            <a:ext cx="8229600" cy="237744"/>
          </a:xfrm>
          <a:prstGeom prst="rect">
            <a:avLst/>
          </a:prstGeom>
          <a:noFill/>
          <a:ln/>
        </p:spPr>
        <p:txBody>
          <a:bodyPr wrap="square" lIns="0" tIns="0" rIns="0" bIns="0" rtlCol="0" anchor="ctr"/>
          <a:lstStyle/>
          <a:p>
            <a:pPr indent="0" marL="0">
              <a:buNone/>
            </a:pPr>
            <a:r>
              <a:rPr lang="en-US" sz="900" b="1" spc="500" kern="0" dirty="0">
                <a:solidFill>
                  <a:srgbClr val="6366F1"/>
                </a:solidFill>
              </a:rPr>
              <a:t>THE RAG PIPELINE</a:t>
            </a:r>
            <a:endParaRPr lang="en-US" sz="900" dirty="0"/>
          </a:p>
        </p:txBody>
      </p:sp>
      <p:sp>
        <p:nvSpPr>
          <p:cNvPr id="4" name="Text 2"/>
          <p:cNvSpPr/>
          <p:nvPr/>
        </p:nvSpPr>
        <p:spPr>
          <a:xfrm>
            <a:off x="457200" y="457200"/>
            <a:ext cx="8229600" cy="566928"/>
          </a:xfrm>
          <a:prstGeom prst="rect">
            <a:avLst/>
          </a:prstGeom>
          <a:noFill/>
          <a:ln/>
        </p:spPr>
        <p:txBody>
          <a:bodyPr wrap="square" lIns="0" tIns="0" rIns="0" bIns="0" rtlCol="0" anchor="ctr"/>
          <a:lstStyle/>
          <a:p>
            <a:pPr algn="l" indent="0" marL="0">
              <a:buNone/>
            </a:pPr>
            <a:r>
              <a:rPr lang="en-US" sz="2200" b="1" dirty="0">
                <a:solidFill>
                  <a:srgbClr val="111827"/>
                </a:solidFill>
                <a:latin typeface="Calibri" pitchFamily="34" charset="0"/>
                <a:ea typeface="Calibri" pitchFamily="34" charset="-122"/>
                <a:cs typeface="Calibri" pitchFamily="34" charset="-120"/>
              </a:rPr>
              <a:t>How a question becomes a grounded answer — not a guess</a:t>
            </a:r>
            <a:endParaRPr lang="en-US" sz="2200" dirty="0"/>
          </a:p>
        </p:txBody>
      </p:sp>
      <p:sp>
        <p:nvSpPr>
          <p:cNvPr id="5" name="Shape 3"/>
          <p:cNvSpPr/>
          <p:nvPr/>
        </p:nvSpPr>
        <p:spPr>
          <a:xfrm>
            <a:off x="347472" y="1170432"/>
            <a:ext cx="416052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6" name="Shape 4"/>
          <p:cNvSpPr/>
          <p:nvPr/>
        </p:nvSpPr>
        <p:spPr>
          <a:xfrm>
            <a:off x="347472" y="1170432"/>
            <a:ext cx="45720" cy="713232"/>
          </a:xfrm>
          <a:prstGeom prst="rect">
            <a:avLst/>
          </a:prstGeom>
          <a:solidFill>
            <a:srgbClr val="6B7280"/>
          </a:solidFill>
          <a:ln w="12700">
            <a:solidFill>
              <a:srgbClr val="6B7280"/>
            </a:solidFill>
            <a:prstDash val="solid"/>
          </a:ln>
        </p:spPr>
      </p:sp>
      <p:sp>
        <p:nvSpPr>
          <p:cNvPr id="7" name="Text 5"/>
          <p:cNvSpPr/>
          <p:nvPr/>
        </p:nvSpPr>
        <p:spPr>
          <a:xfrm>
            <a:off x="475488" y="1225296"/>
            <a:ext cx="3913632"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1. Query + Langfuse trace</a:t>
            </a:r>
            <a:endParaRPr lang="en-US" sz="1100" dirty="0"/>
          </a:p>
        </p:txBody>
      </p:sp>
      <p:sp>
        <p:nvSpPr>
          <p:cNvPr id="8" name="Text 6"/>
          <p:cNvSpPr/>
          <p:nvPr/>
        </p:nvSpPr>
        <p:spPr>
          <a:xfrm>
            <a:off x="475488" y="1472184"/>
            <a:ext cx="3913632" cy="384048"/>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Logged immediately with a trace ID. A request_id flows from HTTP into every downstream log event. Every request is observable from the first millisecond.</a:t>
            </a:r>
            <a:endParaRPr lang="en-US" sz="880" dirty="0"/>
          </a:p>
        </p:txBody>
      </p:sp>
      <p:sp>
        <p:nvSpPr>
          <p:cNvPr id="9" name="Shape 7"/>
          <p:cNvSpPr/>
          <p:nvPr/>
        </p:nvSpPr>
        <p:spPr>
          <a:xfrm>
            <a:off x="2423160" y="1883664"/>
            <a:ext cx="0" cy="54864"/>
          </a:xfrm>
          <a:prstGeom prst="line">
            <a:avLst/>
          </a:prstGeom>
          <a:noFill/>
          <a:ln w="12700">
            <a:solidFill>
              <a:srgbClr val="CBD5E1"/>
            </a:solidFill>
            <a:prstDash val="dash"/>
          </a:ln>
        </p:spPr>
      </p:sp>
      <p:sp>
        <p:nvSpPr>
          <p:cNvPr id="10" name="Shape 8"/>
          <p:cNvSpPr/>
          <p:nvPr/>
        </p:nvSpPr>
        <p:spPr>
          <a:xfrm>
            <a:off x="347472" y="1938528"/>
            <a:ext cx="416052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11" name="Shape 9"/>
          <p:cNvSpPr/>
          <p:nvPr/>
        </p:nvSpPr>
        <p:spPr>
          <a:xfrm>
            <a:off x="347472" y="1938528"/>
            <a:ext cx="45720" cy="713232"/>
          </a:xfrm>
          <a:prstGeom prst="rect">
            <a:avLst/>
          </a:prstGeom>
          <a:solidFill>
            <a:srgbClr val="6366F1"/>
          </a:solidFill>
          <a:ln w="12700">
            <a:solidFill>
              <a:srgbClr val="6366F1"/>
            </a:solidFill>
            <a:prstDash val="solid"/>
          </a:ln>
        </p:spPr>
      </p:sp>
      <p:sp>
        <p:nvSpPr>
          <p:cNvPr id="12" name="Text 10"/>
          <p:cNvSpPr/>
          <p:nvPr/>
        </p:nvSpPr>
        <p:spPr>
          <a:xfrm>
            <a:off x="475488" y="1993392"/>
            <a:ext cx="3913632"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2. Intent classification</a:t>
            </a:r>
            <a:endParaRPr lang="en-US" sz="1100" dirty="0"/>
          </a:p>
        </p:txBody>
      </p:sp>
      <p:sp>
        <p:nvSpPr>
          <p:cNvPr id="13" name="Text 11"/>
          <p:cNvSpPr/>
          <p:nvPr/>
        </p:nvSpPr>
        <p:spPr>
          <a:xfrm>
            <a:off x="475488" y="2240280"/>
            <a:ext cx="3913632" cy="384048"/>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Lightweight LLM call (temperature=0, max_tokens=150). Classifies specific vs general; returns expanded query for better semantic recall. Regex fallback fires if LLM fails — retrieval is never blocked.</a:t>
            </a:r>
            <a:endParaRPr lang="en-US" sz="880" dirty="0"/>
          </a:p>
        </p:txBody>
      </p:sp>
      <p:sp>
        <p:nvSpPr>
          <p:cNvPr id="14" name="Shape 12"/>
          <p:cNvSpPr/>
          <p:nvPr/>
        </p:nvSpPr>
        <p:spPr>
          <a:xfrm>
            <a:off x="2423160" y="2651760"/>
            <a:ext cx="0" cy="54864"/>
          </a:xfrm>
          <a:prstGeom prst="line">
            <a:avLst/>
          </a:prstGeom>
          <a:noFill/>
          <a:ln w="12700">
            <a:solidFill>
              <a:srgbClr val="CBD5E1"/>
            </a:solidFill>
            <a:prstDash val="dash"/>
          </a:ln>
        </p:spPr>
      </p:sp>
      <p:sp>
        <p:nvSpPr>
          <p:cNvPr id="15" name="Shape 13"/>
          <p:cNvSpPr/>
          <p:nvPr/>
        </p:nvSpPr>
        <p:spPr>
          <a:xfrm>
            <a:off x="347472" y="2706624"/>
            <a:ext cx="416052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16" name="Shape 14"/>
          <p:cNvSpPr/>
          <p:nvPr/>
        </p:nvSpPr>
        <p:spPr>
          <a:xfrm>
            <a:off x="347472" y="2706624"/>
            <a:ext cx="45720" cy="713232"/>
          </a:xfrm>
          <a:prstGeom prst="rect">
            <a:avLst/>
          </a:prstGeom>
          <a:solidFill>
            <a:srgbClr val="6366F1"/>
          </a:solidFill>
          <a:ln w="12700">
            <a:solidFill>
              <a:srgbClr val="6366F1"/>
            </a:solidFill>
            <a:prstDash val="solid"/>
          </a:ln>
        </p:spPr>
      </p:sp>
      <p:sp>
        <p:nvSpPr>
          <p:cNvPr id="17" name="Text 15"/>
          <p:cNvSpPr/>
          <p:nvPr/>
        </p:nvSpPr>
        <p:spPr>
          <a:xfrm>
            <a:off x="475488" y="2761488"/>
            <a:ext cx="3913632"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3. Hybrid retrieval</a:t>
            </a:r>
            <a:endParaRPr lang="en-US" sz="1100" dirty="0"/>
          </a:p>
        </p:txBody>
      </p:sp>
      <p:sp>
        <p:nvSpPr>
          <p:cNvPr id="18" name="Text 16"/>
          <p:cNvSpPr/>
          <p:nvPr/>
        </p:nvSpPr>
        <p:spPr>
          <a:xfrm>
            <a:off x="475488" y="3008376"/>
            <a:ext cx="3913632" cy="384048"/>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Two parallel searches merged and deduped: pgvector cosine similarity (semantic) + PostgreSQL full-text search (exact names/titles). Memory Brief chunks prepended with score boost. Deduped by chunk ID, highest score wins.</a:t>
            </a:r>
            <a:endParaRPr lang="en-US" sz="880" dirty="0"/>
          </a:p>
        </p:txBody>
      </p:sp>
      <p:sp>
        <p:nvSpPr>
          <p:cNvPr id="19" name="Shape 17"/>
          <p:cNvSpPr/>
          <p:nvPr/>
        </p:nvSpPr>
        <p:spPr>
          <a:xfrm>
            <a:off x="2423160" y="3419856"/>
            <a:ext cx="0" cy="54864"/>
          </a:xfrm>
          <a:prstGeom prst="line">
            <a:avLst/>
          </a:prstGeom>
          <a:noFill/>
          <a:ln w="12700">
            <a:solidFill>
              <a:srgbClr val="CBD5E1"/>
            </a:solidFill>
            <a:prstDash val="dash"/>
          </a:ln>
        </p:spPr>
      </p:sp>
      <p:sp>
        <p:nvSpPr>
          <p:cNvPr id="20" name="Shape 18"/>
          <p:cNvSpPr/>
          <p:nvPr/>
        </p:nvSpPr>
        <p:spPr>
          <a:xfrm>
            <a:off x="347472" y="3474720"/>
            <a:ext cx="416052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21" name="Shape 19"/>
          <p:cNvSpPr/>
          <p:nvPr/>
        </p:nvSpPr>
        <p:spPr>
          <a:xfrm>
            <a:off x="347472" y="3474720"/>
            <a:ext cx="45720" cy="713232"/>
          </a:xfrm>
          <a:prstGeom prst="rect">
            <a:avLst/>
          </a:prstGeom>
          <a:solidFill>
            <a:srgbClr val="818CF8"/>
          </a:solidFill>
          <a:ln w="12700">
            <a:solidFill>
              <a:srgbClr val="818CF8"/>
            </a:solidFill>
            <a:prstDash val="solid"/>
          </a:ln>
        </p:spPr>
      </p:sp>
      <p:sp>
        <p:nvSpPr>
          <p:cNvPr id="22" name="Text 20"/>
          <p:cNvSpPr/>
          <p:nvPr/>
        </p:nvSpPr>
        <p:spPr>
          <a:xfrm>
            <a:off x="475488" y="3529584"/>
            <a:ext cx="3913632"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4. Answer generation</a:t>
            </a:r>
            <a:endParaRPr lang="en-US" sz="1100" dirty="0"/>
          </a:p>
        </p:txBody>
      </p:sp>
      <p:sp>
        <p:nvSpPr>
          <p:cNvPr id="23" name="Text 21"/>
          <p:cNvSpPr/>
          <p:nvPr/>
        </p:nvSpPr>
        <p:spPr>
          <a:xfrm>
            <a:off x="475488" y="3776472"/>
            <a:ext cx="3913632" cy="384048"/>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Fixed prompt structure: Role → Owner notes → Memory Brief → Retrieved chunks → Rules. All ingested content sanitised before reaching the LLM. Injection patterns stripped. Model speaks from knowledge — not as an assistant managing a library.</a:t>
            </a:r>
            <a:endParaRPr lang="en-US" sz="880" dirty="0"/>
          </a:p>
        </p:txBody>
      </p:sp>
      <p:sp>
        <p:nvSpPr>
          <p:cNvPr id="24" name="Shape 22"/>
          <p:cNvSpPr/>
          <p:nvPr/>
        </p:nvSpPr>
        <p:spPr>
          <a:xfrm>
            <a:off x="4846320" y="1170432"/>
            <a:ext cx="393192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25" name="Shape 23"/>
          <p:cNvSpPr/>
          <p:nvPr/>
        </p:nvSpPr>
        <p:spPr>
          <a:xfrm>
            <a:off x="4846320" y="1170432"/>
            <a:ext cx="45720" cy="713232"/>
          </a:xfrm>
          <a:prstGeom prst="rect">
            <a:avLst/>
          </a:prstGeom>
          <a:solidFill>
            <a:srgbClr val="14B8A6"/>
          </a:solidFill>
          <a:ln w="12700">
            <a:solidFill>
              <a:srgbClr val="14B8A6"/>
            </a:solidFill>
            <a:prstDash val="solid"/>
          </a:ln>
        </p:spPr>
      </p:sp>
      <p:sp>
        <p:nvSpPr>
          <p:cNvPr id="26" name="Text 24"/>
          <p:cNvSpPr/>
          <p:nvPr/>
        </p:nvSpPr>
        <p:spPr>
          <a:xfrm>
            <a:off x="4974336" y="1225296"/>
            <a:ext cx="3694176"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5. Evidence verification</a:t>
            </a:r>
            <a:endParaRPr lang="en-US" sz="1100" dirty="0"/>
          </a:p>
        </p:txBody>
      </p:sp>
      <p:sp>
        <p:nvSpPr>
          <p:cNvPr id="27" name="Text 25"/>
          <p:cNvSpPr/>
          <p:nvPr/>
        </p:nvSpPr>
        <p:spPr>
          <a:xfrm>
            <a:off x="4974336" y="1472184"/>
            <a:ext cx="3694176" cy="384048"/>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Synchronous. Checks that the answer references real indexed content. On failure: bounded regeneration with explicit feedback injected into the retry prompt — before anything is persisted.</a:t>
            </a:r>
            <a:endParaRPr lang="en-US" sz="880" dirty="0"/>
          </a:p>
        </p:txBody>
      </p:sp>
      <p:sp>
        <p:nvSpPr>
          <p:cNvPr id="28" name="Shape 26"/>
          <p:cNvSpPr/>
          <p:nvPr/>
        </p:nvSpPr>
        <p:spPr>
          <a:xfrm>
            <a:off x="6812280" y="1883664"/>
            <a:ext cx="0" cy="54864"/>
          </a:xfrm>
          <a:prstGeom prst="line">
            <a:avLst/>
          </a:prstGeom>
          <a:noFill/>
          <a:ln w="12700">
            <a:solidFill>
              <a:srgbClr val="CBD5E1"/>
            </a:solidFill>
            <a:prstDash val="dash"/>
          </a:ln>
        </p:spPr>
      </p:sp>
      <p:sp>
        <p:nvSpPr>
          <p:cNvPr id="29" name="Shape 27"/>
          <p:cNvSpPr/>
          <p:nvPr/>
        </p:nvSpPr>
        <p:spPr>
          <a:xfrm>
            <a:off x="4846320" y="1938528"/>
            <a:ext cx="393192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30" name="Shape 28"/>
          <p:cNvSpPr/>
          <p:nvPr/>
        </p:nvSpPr>
        <p:spPr>
          <a:xfrm>
            <a:off x="4846320" y="1938528"/>
            <a:ext cx="45720" cy="713232"/>
          </a:xfrm>
          <a:prstGeom prst="rect">
            <a:avLst/>
          </a:prstGeom>
          <a:solidFill>
            <a:srgbClr val="F59E0B"/>
          </a:solidFill>
          <a:ln w="12700">
            <a:solidFill>
              <a:srgbClr val="F59E0B"/>
            </a:solidFill>
            <a:prstDash val="solid"/>
          </a:ln>
        </p:spPr>
      </p:sp>
      <p:sp>
        <p:nvSpPr>
          <p:cNvPr id="31" name="Text 29"/>
          <p:cNvSpPr/>
          <p:nvPr/>
        </p:nvSpPr>
        <p:spPr>
          <a:xfrm>
            <a:off x="4974336" y="1993392"/>
            <a:ext cx="3694176"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6. Active quality gate</a:t>
            </a:r>
            <a:endParaRPr lang="en-US" sz="1100" dirty="0"/>
          </a:p>
        </p:txBody>
      </p:sp>
      <p:sp>
        <p:nvSpPr>
          <p:cNvPr id="32" name="Text 30"/>
          <p:cNvSpPr/>
          <p:nvPr/>
        </p:nvSpPr>
        <p:spPr>
          <a:xfrm>
            <a:off x="4974336" y="2240280"/>
            <a:ext cx="3694176" cy="384048"/>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Synchronous LLM judge. Returns ResponseQualityGate — Pydantic (extra='forbid'): is_acceptable: bool, feedback: str. If rejected: bounded regen + re-verify. This loop runs before the answer is saved. Bad answers never reach the user.</a:t>
            </a:r>
            <a:endParaRPr lang="en-US" sz="880" dirty="0"/>
          </a:p>
        </p:txBody>
      </p:sp>
      <p:sp>
        <p:nvSpPr>
          <p:cNvPr id="33" name="Shape 31"/>
          <p:cNvSpPr/>
          <p:nvPr/>
        </p:nvSpPr>
        <p:spPr>
          <a:xfrm>
            <a:off x="6812280" y="2651760"/>
            <a:ext cx="0" cy="54864"/>
          </a:xfrm>
          <a:prstGeom prst="line">
            <a:avLst/>
          </a:prstGeom>
          <a:noFill/>
          <a:ln w="12700">
            <a:solidFill>
              <a:srgbClr val="CBD5E1"/>
            </a:solidFill>
            <a:prstDash val="dash"/>
          </a:ln>
        </p:spPr>
      </p:sp>
      <p:sp>
        <p:nvSpPr>
          <p:cNvPr id="34" name="Shape 32"/>
          <p:cNvSpPr/>
          <p:nvPr/>
        </p:nvSpPr>
        <p:spPr>
          <a:xfrm>
            <a:off x="4846320" y="2706624"/>
            <a:ext cx="3931920" cy="71323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35" name="Shape 33"/>
          <p:cNvSpPr/>
          <p:nvPr/>
        </p:nvSpPr>
        <p:spPr>
          <a:xfrm>
            <a:off x="4846320" y="2706624"/>
            <a:ext cx="45720" cy="713232"/>
          </a:xfrm>
          <a:prstGeom prst="rect">
            <a:avLst/>
          </a:prstGeom>
          <a:solidFill>
            <a:srgbClr val="6B7280"/>
          </a:solidFill>
          <a:ln w="12700">
            <a:solidFill>
              <a:srgbClr val="6B7280"/>
            </a:solidFill>
            <a:prstDash val="solid"/>
          </a:ln>
        </p:spPr>
      </p:sp>
      <p:sp>
        <p:nvSpPr>
          <p:cNvPr id="36" name="Text 34"/>
          <p:cNvSpPr/>
          <p:nvPr/>
        </p:nvSpPr>
        <p:spPr>
          <a:xfrm>
            <a:off x="4974336" y="2761488"/>
            <a:ext cx="3694176"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7. Persist + respond</a:t>
            </a:r>
            <a:endParaRPr lang="en-US" sz="1100" dirty="0"/>
          </a:p>
        </p:txBody>
      </p:sp>
      <p:sp>
        <p:nvSpPr>
          <p:cNvPr id="37" name="Text 35"/>
          <p:cNvSpPr/>
          <p:nvPr/>
        </p:nvSpPr>
        <p:spPr>
          <a:xfrm>
            <a:off x="4974336" y="3008376"/>
            <a:ext cx="3694176" cy="384048"/>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Message row written with chunk IDs — full audit trail. Async Langfuse dimensional scoring runs after response is sent (non-blocking, never adds latency).</a:t>
            </a:r>
            <a:endParaRPr lang="en-US" sz="880" dirty="0"/>
          </a:p>
        </p:txBody>
      </p:sp>
      <p:sp>
        <p:nvSpPr>
          <p:cNvPr id="38" name="Text 36"/>
          <p:cNvSpPr/>
          <p:nvPr/>
        </p:nvSpPr>
        <p:spPr>
          <a:xfrm>
            <a:off x="457200" y="4636008"/>
            <a:ext cx="8229600" cy="384048"/>
          </a:xfrm>
          <a:prstGeom prst="rect">
            <a:avLst/>
          </a:prstGeom>
          <a:noFill/>
          <a:ln/>
        </p:spPr>
        <p:txBody>
          <a:bodyPr wrap="square" lIns="0" tIns="0" rIns="0" bIns="0" rtlCol="0" anchor="ctr"/>
          <a:lstStyle/>
          <a:p>
            <a:pPr indent="0" marL="0">
              <a:buNone/>
            </a:pPr>
            <a:r>
              <a:rPr lang="en-US" sz="1000" i="1" dirty="0">
                <a:solidFill>
                  <a:srgbClr val="6366F1"/>
                </a:solidFill>
                <a:latin typeface="Calibri" pitchFamily="34" charset="0"/>
                <a:ea typeface="Calibri" pitchFamily="34" charset="-122"/>
                <a:cs typeface="Calibri" pitchFamily="34" charset="-120"/>
              </a:rPr>
              <a:t>Why hybrid not vector-only? Vector catches meaning but misses exact names. Full-text catches those but misses paraphrased queries. Together, precision is meaningfully higher — at zero extra cost since both run on the same Postgres instance.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59E0B"/>
          </a:solidFill>
          <a:ln w="12700">
            <a:solidFill>
              <a:srgbClr val="F59E0B"/>
            </a:solidFill>
            <a:prstDash val="solid"/>
          </a:ln>
        </p:spPr>
      </p:sp>
      <p:sp>
        <p:nvSpPr>
          <p:cNvPr id="3" name="Text 1"/>
          <p:cNvSpPr/>
          <p:nvPr/>
        </p:nvSpPr>
        <p:spPr>
          <a:xfrm>
            <a:off x="457200" y="182880"/>
            <a:ext cx="8229600" cy="237744"/>
          </a:xfrm>
          <a:prstGeom prst="rect">
            <a:avLst/>
          </a:prstGeom>
          <a:noFill/>
          <a:ln/>
        </p:spPr>
        <p:txBody>
          <a:bodyPr wrap="square" lIns="0" tIns="0" rIns="0" bIns="0" rtlCol="0" anchor="ctr"/>
          <a:lstStyle/>
          <a:p>
            <a:pPr indent="0" marL="0">
              <a:buNone/>
            </a:pPr>
            <a:r>
              <a:rPr lang="en-US" sz="900" b="1" spc="500" kern="0" dirty="0">
                <a:solidFill>
                  <a:srgbClr val="F59E0B"/>
                </a:solidFill>
              </a:rPr>
              <a:t>QUALITY &amp; EVALUATION</a:t>
            </a:r>
            <a:endParaRPr lang="en-US" sz="900" dirty="0"/>
          </a:p>
        </p:txBody>
      </p:sp>
      <p:sp>
        <p:nvSpPr>
          <p:cNvPr id="4" name="Text 2"/>
          <p:cNvSpPr/>
          <p:nvPr/>
        </p:nvSpPr>
        <p:spPr>
          <a:xfrm>
            <a:off x="457200" y="457200"/>
            <a:ext cx="8229600" cy="566928"/>
          </a:xfrm>
          <a:prstGeom prst="rect">
            <a:avLst/>
          </a:prstGeom>
          <a:noFill/>
          <a:ln/>
        </p:spPr>
        <p:txBody>
          <a:bodyPr wrap="square" lIns="0" tIns="0" rIns="0" bIns="0" rtlCol="0" anchor="ctr"/>
          <a:lstStyle/>
          <a:p>
            <a:pPr algn="l" indent="0" marL="0">
              <a:buNone/>
            </a:pPr>
            <a:r>
              <a:rPr lang="en-US" sz="2200" b="1" dirty="0">
                <a:solidFill>
                  <a:srgbClr val="F1F5F9"/>
                </a:solidFill>
                <a:latin typeface="Calibri" pitchFamily="34" charset="0"/>
                <a:ea typeface="Calibri" pitchFamily="34" charset="-122"/>
                <a:cs typeface="Calibri" pitchFamily="34" charset="-120"/>
              </a:rPr>
              <a:t>Four layers between a question and a persisted answer.</a:t>
            </a:r>
            <a:endParaRPr lang="en-US" sz="2200" dirty="0"/>
          </a:p>
        </p:txBody>
      </p:sp>
      <p:sp>
        <p:nvSpPr>
          <p:cNvPr id="5" name="Shape 3"/>
          <p:cNvSpPr/>
          <p:nvPr/>
        </p:nvSpPr>
        <p:spPr>
          <a:xfrm>
            <a:off x="256032" y="1170432"/>
            <a:ext cx="2011680" cy="3520440"/>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6" name="Shape 4"/>
          <p:cNvSpPr/>
          <p:nvPr/>
        </p:nvSpPr>
        <p:spPr>
          <a:xfrm>
            <a:off x="256032" y="1170432"/>
            <a:ext cx="2011680" cy="54864"/>
          </a:xfrm>
          <a:prstGeom prst="rect">
            <a:avLst/>
          </a:prstGeom>
          <a:solidFill>
            <a:srgbClr val="14B8A6"/>
          </a:solidFill>
          <a:ln w="12700">
            <a:solidFill>
              <a:srgbClr val="14B8A6"/>
            </a:solidFill>
            <a:prstDash val="solid"/>
          </a:ln>
        </p:spPr>
      </p:sp>
      <p:sp>
        <p:nvSpPr>
          <p:cNvPr id="7" name="Text 5"/>
          <p:cNvSpPr/>
          <p:nvPr/>
        </p:nvSpPr>
        <p:spPr>
          <a:xfrm>
            <a:off x="347472" y="1243584"/>
            <a:ext cx="1828800" cy="420624"/>
          </a:xfrm>
          <a:prstGeom prst="rect">
            <a:avLst/>
          </a:prstGeom>
          <a:noFill/>
          <a:ln/>
        </p:spPr>
        <p:txBody>
          <a:bodyPr wrap="square" lIns="0" tIns="0" rIns="0" bIns="0" rtlCol="0" anchor="ctr"/>
          <a:lstStyle/>
          <a:p>
            <a:pPr indent="0" marL="0">
              <a:buNone/>
            </a:pPr>
            <a:r>
              <a:rPr lang="en-US" sz="1050" b="1" dirty="0">
                <a:solidFill>
                  <a:srgbClr val="14B8A6"/>
                </a:solidFill>
                <a:latin typeface="Calibri" pitchFamily="34" charset="0"/>
                <a:ea typeface="Calibri" pitchFamily="34" charset="-122"/>
                <a:cs typeface="Calibri" pitchFamily="34" charset="-120"/>
              </a:rPr>
              <a:t>1. Evidence Verifier</a:t>
            </a:r>
            <a:endParaRPr lang="en-US" sz="1050" dirty="0"/>
          </a:p>
        </p:txBody>
      </p:sp>
      <p:sp>
        <p:nvSpPr>
          <p:cNvPr id="8" name="Text 6"/>
          <p:cNvSpPr/>
          <p:nvPr/>
        </p:nvSpPr>
        <p:spPr>
          <a:xfrm>
            <a:off x="347472" y="1700784"/>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Synchronous on every non-deterministic LLM path</a:t>
            </a:r>
            <a:endParaRPr lang="en-US" sz="880" dirty="0"/>
          </a:p>
        </p:txBody>
      </p:sp>
      <p:sp>
        <p:nvSpPr>
          <p:cNvPr id="9" name="Text 7"/>
          <p:cNvSpPr/>
          <p:nvPr/>
        </p:nvSpPr>
        <p:spPr>
          <a:xfrm>
            <a:off x="347472" y="2258568"/>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Enforces answers reference real indexed content</a:t>
            </a:r>
            <a:endParaRPr lang="en-US" sz="880" dirty="0"/>
          </a:p>
        </p:txBody>
      </p:sp>
      <p:sp>
        <p:nvSpPr>
          <p:cNvPr id="10" name="Text 8"/>
          <p:cNvSpPr/>
          <p:nvPr/>
        </p:nvSpPr>
        <p:spPr>
          <a:xfrm>
            <a:off x="347472" y="2816352"/>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On failure: bounded regen with explicit correction before user sees anything</a:t>
            </a:r>
            <a:endParaRPr lang="en-US" sz="880" dirty="0"/>
          </a:p>
        </p:txBody>
      </p:sp>
      <p:sp>
        <p:nvSpPr>
          <p:cNvPr id="11" name="Text 9"/>
          <p:cNvSpPr/>
          <p:nvPr/>
        </p:nvSpPr>
        <p:spPr>
          <a:xfrm>
            <a:off x="347472" y="3374136"/>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Workspace conversational turns skip internal headers so answers read naturally</a:t>
            </a:r>
            <a:endParaRPr lang="en-US" sz="880" dirty="0"/>
          </a:p>
        </p:txBody>
      </p:sp>
      <p:sp>
        <p:nvSpPr>
          <p:cNvPr id="12" name="Shape 10"/>
          <p:cNvSpPr/>
          <p:nvPr/>
        </p:nvSpPr>
        <p:spPr>
          <a:xfrm>
            <a:off x="2432304" y="1170432"/>
            <a:ext cx="2011680" cy="3520440"/>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13" name="Shape 11"/>
          <p:cNvSpPr/>
          <p:nvPr/>
        </p:nvSpPr>
        <p:spPr>
          <a:xfrm>
            <a:off x="2432304" y="1170432"/>
            <a:ext cx="2011680" cy="54864"/>
          </a:xfrm>
          <a:prstGeom prst="rect">
            <a:avLst/>
          </a:prstGeom>
          <a:solidFill>
            <a:srgbClr val="818CF8"/>
          </a:solidFill>
          <a:ln w="12700">
            <a:solidFill>
              <a:srgbClr val="818CF8"/>
            </a:solidFill>
            <a:prstDash val="solid"/>
          </a:ln>
        </p:spPr>
      </p:sp>
      <p:sp>
        <p:nvSpPr>
          <p:cNvPr id="14" name="Text 12"/>
          <p:cNvSpPr/>
          <p:nvPr/>
        </p:nvSpPr>
        <p:spPr>
          <a:xfrm>
            <a:off x="2523744" y="1243584"/>
            <a:ext cx="1828800" cy="420624"/>
          </a:xfrm>
          <a:prstGeom prst="rect">
            <a:avLst/>
          </a:prstGeom>
          <a:noFill/>
          <a:ln/>
        </p:spPr>
        <p:txBody>
          <a:bodyPr wrap="square" lIns="0" tIns="0" rIns="0" bIns="0" rtlCol="0" anchor="ctr"/>
          <a:lstStyle/>
          <a:p>
            <a:pPr indent="0" marL="0">
              <a:buNone/>
            </a:pPr>
            <a:r>
              <a:rPr lang="en-US" sz="1050" b="1" dirty="0">
                <a:solidFill>
                  <a:srgbClr val="818CF8"/>
                </a:solidFill>
                <a:latin typeface="Calibri" pitchFamily="34" charset="0"/>
                <a:ea typeface="Calibri" pitchFamily="34" charset="-122"/>
                <a:cs typeface="Calibri" pitchFamily="34" charset="-120"/>
              </a:rPr>
              <a:t>2. Active Quality Gate</a:t>
            </a:r>
            <a:endParaRPr lang="en-US" sz="1050" dirty="0"/>
          </a:p>
        </p:txBody>
      </p:sp>
      <p:sp>
        <p:nvSpPr>
          <p:cNvPr id="15" name="Text 13"/>
          <p:cNvSpPr/>
          <p:nvPr/>
        </p:nvSpPr>
        <p:spPr>
          <a:xfrm>
            <a:off x="2523744" y="1700784"/>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CHAT_QUALITY_GATE_ENABLED — on by default</a:t>
            </a:r>
            <a:endParaRPr lang="en-US" sz="880" dirty="0"/>
          </a:p>
        </p:txBody>
      </p:sp>
      <p:sp>
        <p:nvSpPr>
          <p:cNvPr id="16" name="Text 14"/>
          <p:cNvSpPr/>
          <p:nvPr/>
        </p:nvSpPr>
        <p:spPr>
          <a:xfrm>
            <a:off x="2523744" y="2258568"/>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Synchronous LLM judge → ResponseQualityGate (Pydantic, extra='forbid')</a:t>
            </a:r>
            <a:endParaRPr lang="en-US" sz="880" dirty="0"/>
          </a:p>
        </p:txBody>
      </p:sp>
      <p:sp>
        <p:nvSpPr>
          <p:cNvPr id="17" name="Text 15"/>
          <p:cNvSpPr/>
          <p:nvPr/>
        </p:nvSpPr>
        <p:spPr>
          <a:xfrm>
            <a:off x="2523744" y="2816352"/>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is_acceptable: bool, feedback: str</a:t>
            </a:r>
            <a:endParaRPr lang="en-US" sz="880" dirty="0"/>
          </a:p>
        </p:txBody>
      </p:sp>
      <p:sp>
        <p:nvSpPr>
          <p:cNvPr id="18" name="Text 16"/>
          <p:cNvSpPr/>
          <p:nvPr/>
        </p:nvSpPr>
        <p:spPr>
          <a:xfrm>
            <a:off x="2523744" y="3374136"/>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Reject → bounded regen + feedback injected → re-verify → only then persisted</a:t>
            </a:r>
            <a:endParaRPr lang="en-US" sz="880" dirty="0"/>
          </a:p>
        </p:txBody>
      </p:sp>
      <p:sp>
        <p:nvSpPr>
          <p:cNvPr id="19" name="Text 17"/>
          <p:cNvSpPr/>
          <p:nvPr/>
        </p:nvSpPr>
        <p:spPr>
          <a:xfrm>
            <a:off x="2523744" y="3931920"/>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Not a post-hoc log. A blocking gate.</a:t>
            </a:r>
            <a:endParaRPr lang="en-US" sz="880" dirty="0"/>
          </a:p>
        </p:txBody>
      </p:sp>
      <p:sp>
        <p:nvSpPr>
          <p:cNvPr id="20" name="Shape 18"/>
          <p:cNvSpPr/>
          <p:nvPr/>
        </p:nvSpPr>
        <p:spPr>
          <a:xfrm>
            <a:off x="4608576" y="1170432"/>
            <a:ext cx="2011680" cy="3520440"/>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21" name="Shape 19"/>
          <p:cNvSpPr/>
          <p:nvPr/>
        </p:nvSpPr>
        <p:spPr>
          <a:xfrm>
            <a:off x="4608576" y="1170432"/>
            <a:ext cx="2011680" cy="54864"/>
          </a:xfrm>
          <a:prstGeom prst="rect">
            <a:avLst/>
          </a:prstGeom>
          <a:solidFill>
            <a:srgbClr val="F59E0B"/>
          </a:solidFill>
          <a:ln w="12700">
            <a:solidFill>
              <a:srgbClr val="F59E0B"/>
            </a:solidFill>
            <a:prstDash val="solid"/>
          </a:ln>
        </p:spPr>
      </p:sp>
      <p:sp>
        <p:nvSpPr>
          <p:cNvPr id="22" name="Text 20"/>
          <p:cNvSpPr/>
          <p:nvPr/>
        </p:nvSpPr>
        <p:spPr>
          <a:xfrm>
            <a:off x="4700016" y="1243584"/>
            <a:ext cx="1828800" cy="420624"/>
          </a:xfrm>
          <a:prstGeom prst="rect">
            <a:avLst/>
          </a:prstGeom>
          <a:noFill/>
          <a:ln/>
        </p:spPr>
        <p:txBody>
          <a:bodyPr wrap="square" lIns="0" tIns="0" rIns="0" bIns="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3. Passive Judge + Langfuse</a:t>
            </a:r>
            <a:endParaRPr lang="en-US" sz="1050" dirty="0"/>
          </a:p>
        </p:txBody>
      </p:sp>
      <p:sp>
        <p:nvSpPr>
          <p:cNvPr id="23" name="Text 21"/>
          <p:cNvSpPr/>
          <p:nvPr/>
        </p:nvSpPr>
        <p:spPr>
          <a:xfrm>
            <a:off x="4700016" y="1700784"/>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Runs after gate passes — non-blocking</a:t>
            </a:r>
            <a:endParaRPr lang="en-US" sz="880" dirty="0"/>
          </a:p>
        </p:txBody>
      </p:sp>
      <p:sp>
        <p:nvSpPr>
          <p:cNvPr id="24" name="Text 22"/>
          <p:cNvSpPr/>
          <p:nvPr/>
        </p:nvSpPr>
        <p:spPr>
          <a:xfrm>
            <a:off x="4700016" y="2258568"/>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evaluate_response_async — multi-axis scores</a:t>
            </a:r>
            <a:endParaRPr lang="en-US" sz="880" dirty="0"/>
          </a:p>
        </p:txBody>
      </p:sp>
      <p:sp>
        <p:nvSpPr>
          <p:cNvPr id="25" name="Text 23"/>
          <p:cNvSpPr/>
          <p:nvPr/>
        </p:nvSpPr>
        <p:spPr>
          <a:xfrm>
            <a:off x="4700016" y="2816352"/>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Relevance, groundedness, completeness pushed to Langfuse</a:t>
            </a:r>
            <a:endParaRPr lang="en-US" sz="880" dirty="0"/>
          </a:p>
        </p:txBody>
      </p:sp>
      <p:sp>
        <p:nvSpPr>
          <p:cNvPr id="26" name="Text 24"/>
          <p:cNvSpPr/>
          <p:nvPr/>
        </p:nvSpPr>
        <p:spPr>
          <a:xfrm>
            <a:off x="4700016" y="3374136"/>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Powers regression baselines for prompt/model changes</a:t>
            </a:r>
            <a:endParaRPr lang="en-US" sz="880" dirty="0"/>
          </a:p>
        </p:txBody>
      </p:sp>
      <p:sp>
        <p:nvSpPr>
          <p:cNvPr id="27" name="Shape 25"/>
          <p:cNvSpPr/>
          <p:nvPr/>
        </p:nvSpPr>
        <p:spPr>
          <a:xfrm>
            <a:off x="6784848" y="1170432"/>
            <a:ext cx="2011680" cy="3520440"/>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28" name="Shape 26"/>
          <p:cNvSpPr/>
          <p:nvPr/>
        </p:nvSpPr>
        <p:spPr>
          <a:xfrm>
            <a:off x="6784848" y="1170432"/>
            <a:ext cx="2011680" cy="54864"/>
          </a:xfrm>
          <a:prstGeom prst="rect">
            <a:avLst/>
          </a:prstGeom>
          <a:solidFill>
            <a:srgbClr val="6B7280"/>
          </a:solidFill>
          <a:ln w="12700">
            <a:solidFill>
              <a:srgbClr val="6B7280"/>
            </a:solidFill>
            <a:prstDash val="solid"/>
          </a:ln>
        </p:spPr>
      </p:sp>
      <p:sp>
        <p:nvSpPr>
          <p:cNvPr id="29" name="Text 27"/>
          <p:cNvSpPr/>
          <p:nvPr/>
        </p:nvSpPr>
        <p:spPr>
          <a:xfrm>
            <a:off x="6876288" y="1243584"/>
            <a:ext cx="1828800" cy="420624"/>
          </a:xfrm>
          <a:prstGeom prst="rect">
            <a:avLst/>
          </a:prstGeom>
          <a:noFill/>
          <a:ln/>
        </p:spPr>
        <p:txBody>
          <a:bodyPr wrap="square" lIns="0" tIns="0" rIns="0" bIns="0" rtlCol="0" anchor="ctr"/>
          <a:lstStyle/>
          <a:p>
            <a:pPr indent="0" marL="0">
              <a:buNone/>
            </a:pPr>
            <a:r>
              <a:rPr lang="en-US" sz="1050" b="1" dirty="0">
                <a:solidFill>
                  <a:srgbClr val="6B7280"/>
                </a:solidFill>
                <a:latin typeface="Calibri" pitchFamily="34" charset="0"/>
                <a:ea typeface="Calibri" pitchFamily="34" charset="-122"/>
                <a:cs typeface="Calibri" pitchFamily="34" charset="-120"/>
              </a:rPr>
              <a:t>4. Prompt Contracts</a:t>
            </a:r>
            <a:endParaRPr lang="en-US" sz="1050" dirty="0"/>
          </a:p>
        </p:txBody>
      </p:sp>
      <p:sp>
        <p:nvSpPr>
          <p:cNvPr id="30" name="Text 28"/>
          <p:cNvSpPr/>
          <p:nvPr/>
        </p:nvSpPr>
        <p:spPr>
          <a:xfrm>
            <a:off x="6876288" y="1700784"/>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Fixed structure at every level — no freeform injection</a:t>
            </a:r>
            <a:endParaRPr lang="en-US" sz="880" dirty="0"/>
          </a:p>
        </p:txBody>
      </p:sp>
      <p:sp>
        <p:nvSpPr>
          <p:cNvPr id="31" name="Text 29"/>
          <p:cNvSpPr/>
          <p:nvPr/>
        </p:nvSpPr>
        <p:spPr>
          <a:xfrm>
            <a:off x="6876288" y="2258568"/>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All ingested content sanitised (treats every source as adversarial)</a:t>
            </a:r>
            <a:endParaRPr lang="en-US" sz="880" dirty="0"/>
          </a:p>
        </p:txBody>
      </p:sp>
      <p:sp>
        <p:nvSpPr>
          <p:cNvPr id="32" name="Text 30"/>
          <p:cNvSpPr/>
          <p:nvPr/>
        </p:nvSpPr>
        <p:spPr>
          <a:xfrm>
            <a:off x="6876288" y="2816352"/>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Workspace prompts never expose internal routing to visitors</a:t>
            </a:r>
            <a:endParaRPr lang="en-US" sz="880" dirty="0"/>
          </a:p>
        </p:txBody>
      </p:sp>
      <p:sp>
        <p:nvSpPr>
          <p:cNvPr id="33" name="Text 31"/>
          <p:cNvSpPr/>
          <p:nvPr/>
        </p:nvSpPr>
        <p:spPr>
          <a:xfrm>
            <a:off x="6876288" y="3374136"/>
            <a:ext cx="1828800" cy="493776"/>
          </a:xfrm>
          <a:prstGeom prst="rect">
            <a:avLst/>
          </a:prstGeom>
          <a:noFill/>
          <a:ln/>
        </p:spPr>
        <p:txBody>
          <a:bodyPr wrap="square" lIns="0" tIns="0" rIns="0" bIns="0" rtlCol="0" anchor="t"/>
          <a:lstStyle/>
          <a:p>
            <a:pPr indent="0" marL="0">
              <a:buNone/>
            </a:pPr>
            <a:r>
              <a:rPr lang="en-US" sz="880" dirty="0">
                <a:solidFill>
                  <a:srgbClr val="94A3B8"/>
                </a:solidFill>
                <a:latin typeface="Calibri" pitchFamily="34" charset="0"/>
                <a:ea typeface="Calibri" pitchFamily="34" charset="-122"/>
                <a:cs typeface="Calibri" pitchFamily="34" charset="-120"/>
              </a:rPr>
              <a:t>— Regeneration hints injected into retry prompts by the verifier</a:t>
            </a:r>
            <a:endParaRPr lang="en-US" sz="880" dirty="0"/>
          </a:p>
        </p:txBody>
      </p:sp>
      <p:sp>
        <p:nvSpPr>
          <p:cNvPr id="34" name="Text 32"/>
          <p:cNvSpPr/>
          <p:nvPr/>
        </p:nvSpPr>
        <p:spPr>
          <a:xfrm>
            <a:off x="457200" y="4754880"/>
            <a:ext cx="8229600" cy="274320"/>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Tradeoff: The synchronous gate adds ~1–2s per answer. Deliberate. This is a trust product — correctness over raw speed. Gate can be disabled per environment. In practice, the large majority of answers pass on the first attempt.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8"/>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4B8A6"/>
          </a:solidFill>
          <a:ln w="12700">
            <a:solidFill>
              <a:srgbClr val="14B8A6"/>
            </a:solidFill>
            <a:prstDash val="solid"/>
          </a:ln>
        </p:spPr>
      </p:sp>
      <p:sp>
        <p:nvSpPr>
          <p:cNvPr id="3" name="Text 1"/>
          <p:cNvSpPr/>
          <p:nvPr/>
        </p:nvSpPr>
        <p:spPr>
          <a:xfrm>
            <a:off x="457200" y="182880"/>
            <a:ext cx="8229600" cy="237744"/>
          </a:xfrm>
          <a:prstGeom prst="rect">
            <a:avLst/>
          </a:prstGeom>
          <a:noFill/>
          <a:ln/>
        </p:spPr>
        <p:txBody>
          <a:bodyPr wrap="square" lIns="0" tIns="0" rIns="0" bIns="0" rtlCol="0" anchor="ctr"/>
          <a:lstStyle/>
          <a:p>
            <a:pPr indent="0" marL="0">
              <a:buNone/>
            </a:pPr>
            <a:r>
              <a:rPr lang="en-US" sz="900" b="1" spc="500" kern="0" dirty="0">
                <a:solidFill>
                  <a:srgbClr val="14B8A6"/>
                </a:solidFill>
              </a:rPr>
              <a:t>INFRASTRUCTURE &amp; DEPLOYMENT</a:t>
            </a:r>
            <a:endParaRPr lang="en-US" sz="900" dirty="0"/>
          </a:p>
        </p:txBody>
      </p:sp>
      <p:sp>
        <p:nvSpPr>
          <p:cNvPr id="4" name="Text 2"/>
          <p:cNvSpPr/>
          <p:nvPr/>
        </p:nvSpPr>
        <p:spPr>
          <a:xfrm>
            <a:off x="457200" y="457200"/>
            <a:ext cx="8229600" cy="566928"/>
          </a:xfrm>
          <a:prstGeom prst="rect">
            <a:avLst/>
          </a:prstGeom>
          <a:noFill/>
          <a:ln/>
        </p:spPr>
        <p:txBody>
          <a:bodyPr wrap="square" lIns="0" tIns="0" rIns="0" bIns="0" rtlCol="0" anchor="ctr"/>
          <a:lstStyle/>
          <a:p>
            <a:pPr algn="l" indent="0" marL="0">
              <a:buNone/>
            </a:pPr>
            <a:r>
              <a:rPr lang="en-US" sz="2200" b="1" dirty="0">
                <a:solidFill>
                  <a:srgbClr val="111827"/>
                </a:solidFill>
                <a:latin typeface="Calibri" pitchFamily="34" charset="0"/>
                <a:ea typeface="Calibri" pitchFamily="34" charset="-122"/>
                <a:cs typeface="Calibri" pitchFamily="34" charset="-120"/>
              </a:rPr>
              <a:t>From docker compose up to production AWS — one push to main.</a:t>
            </a:r>
            <a:endParaRPr lang="en-US" sz="2200" dirty="0"/>
          </a:p>
        </p:txBody>
      </p:sp>
      <p:sp>
        <p:nvSpPr>
          <p:cNvPr id="5" name="Text 3"/>
          <p:cNvSpPr/>
          <p:nvPr/>
        </p:nvSpPr>
        <p:spPr>
          <a:xfrm>
            <a:off x="347472" y="1115568"/>
            <a:ext cx="2697480" cy="274320"/>
          </a:xfrm>
          <a:prstGeom prst="rect">
            <a:avLst/>
          </a:prstGeom>
          <a:noFill/>
          <a:ln/>
        </p:spPr>
        <p:txBody>
          <a:bodyPr wrap="square" lIns="0" tIns="0" rIns="0" bIns="0" rtlCol="0" anchor="ctr"/>
          <a:lstStyle/>
          <a:p>
            <a:pPr indent="0" marL="0">
              <a:buNone/>
            </a:pPr>
            <a:r>
              <a:rPr lang="en-US" sz="1000" b="1" dirty="0">
                <a:solidFill>
                  <a:srgbClr val="14B8A6"/>
                </a:solidFill>
              </a:rPr>
              <a:t>Local — 5 services, one command</a:t>
            </a:r>
            <a:endParaRPr lang="en-US" sz="1000" dirty="0"/>
          </a:p>
        </p:txBody>
      </p:sp>
      <p:sp>
        <p:nvSpPr>
          <p:cNvPr id="6" name="Shape 4"/>
          <p:cNvSpPr/>
          <p:nvPr/>
        </p:nvSpPr>
        <p:spPr>
          <a:xfrm>
            <a:off x="347472" y="1426464"/>
            <a:ext cx="2697480" cy="347472"/>
          </a:xfrm>
          <a:prstGeom prst="rect">
            <a:avLst/>
          </a:prstGeom>
          <a:solidFill>
            <a:srgbClr val="F9F9FB"/>
          </a:solidFill>
          <a:ln w="12700">
            <a:solidFill>
              <a:srgbClr val="E5E7EB"/>
            </a:solidFill>
            <a:prstDash val="solid"/>
          </a:ln>
        </p:spPr>
      </p:sp>
      <p:sp>
        <p:nvSpPr>
          <p:cNvPr id="7" name="Text 5"/>
          <p:cNvSpPr/>
          <p:nvPr/>
        </p:nvSpPr>
        <p:spPr>
          <a:xfrm>
            <a:off x="438912" y="1508760"/>
            <a:ext cx="822960" cy="182880"/>
          </a:xfrm>
          <a:prstGeom prst="rect">
            <a:avLst/>
          </a:prstGeom>
          <a:noFill/>
          <a:ln/>
        </p:spPr>
        <p:txBody>
          <a:bodyPr wrap="square" lIns="0" tIns="0" rIns="0" bIns="0" rtlCol="0" anchor="ctr"/>
          <a:lstStyle/>
          <a:p>
            <a:pPr indent="0" marL="0">
              <a:buNone/>
            </a:pPr>
            <a:r>
              <a:rPr lang="en-US" sz="950" b="1" dirty="0">
                <a:solidFill>
                  <a:srgbClr val="111827"/>
                </a:solidFill>
                <a:latin typeface="Calibri" pitchFamily="34" charset="0"/>
                <a:ea typeface="Calibri" pitchFamily="34" charset="-122"/>
                <a:cs typeface="Calibri" pitchFamily="34" charset="-120"/>
              </a:rPr>
              <a:t>backend</a:t>
            </a:r>
            <a:endParaRPr lang="en-US" sz="950" dirty="0"/>
          </a:p>
        </p:txBody>
      </p:sp>
      <p:sp>
        <p:nvSpPr>
          <p:cNvPr id="8" name="Text 6"/>
          <p:cNvSpPr/>
          <p:nvPr/>
        </p:nvSpPr>
        <p:spPr>
          <a:xfrm>
            <a:off x="1298448" y="1508760"/>
            <a:ext cx="1645920" cy="1828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FastAPI — uvicorn, port 8000</a:t>
            </a:r>
            <a:endParaRPr lang="en-US" sz="950" dirty="0"/>
          </a:p>
        </p:txBody>
      </p:sp>
      <p:sp>
        <p:nvSpPr>
          <p:cNvPr id="9" name="Shape 7"/>
          <p:cNvSpPr/>
          <p:nvPr/>
        </p:nvSpPr>
        <p:spPr>
          <a:xfrm>
            <a:off x="347472" y="1810512"/>
            <a:ext cx="2697480" cy="347472"/>
          </a:xfrm>
          <a:prstGeom prst="rect">
            <a:avLst/>
          </a:prstGeom>
          <a:solidFill>
            <a:srgbClr val="FFFFFF"/>
          </a:solidFill>
          <a:ln w="12700">
            <a:solidFill>
              <a:srgbClr val="E5E7EB"/>
            </a:solidFill>
            <a:prstDash val="solid"/>
          </a:ln>
        </p:spPr>
      </p:sp>
      <p:sp>
        <p:nvSpPr>
          <p:cNvPr id="10" name="Text 8"/>
          <p:cNvSpPr/>
          <p:nvPr/>
        </p:nvSpPr>
        <p:spPr>
          <a:xfrm>
            <a:off x="438912" y="1892808"/>
            <a:ext cx="822960" cy="182880"/>
          </a:xfrm>
          <a:prstGeom prst="rect">
            <a:avLst/>
          </a:prstGeom>
          <a:noFill/>
          <a:ln/>
        </p:spPr>
        <p:txBody>
          <a:bodyPr wrap="square" lIns="0" tIns="0" rIns="0" bIns="0" rtlCol="0" anchor="ctr"/>
          <a:lstStyle/>
          <a:p>
            <a:pPr indent="0" marL="0">
              <a:buNone/>
            </a:pPr>
            <a:r>
              <a:rPr lang="en-US" sz="950" b="1" dirty="0">
                <a:solidFill>
                  <a:srgbClr val="111827"/>
                </a:solidFill>
                <a:latin typeface="Calibri" pitchFamily="34" charset="0"/>
                <a:ea typeface="Calibri" pitchFamily="34" charset="-122"/>
                <a:cs typeface="Calibri" pitchFamily="34" charset="-120"/>
              </a:rPr>
              <a:t>worker</a:t>
            </a:r>
            <a:endParaRPr lang="en-US" sz="950" dirty="0"/>
          </a:p>
        </p:txBody>
      </p:sp>
      <p:sp>
        <p:nvSpPr>
          <p:cNvPr id="11" name="Text 9"/>
          <p:cNvSpPr/>
          <p:nvPr/>
        </p:nvSpPr>
        <p:spPr>
          <a:xfrm>
            <a:off x="1298448" y="1892808"/>
            <a:ext cx="1645920" cy="1828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ARQ async job runner</a:t>
            </a:r>
            <a:endParaRPr lang="en-US" sz="950" dirty="0"/>
          </a:p>
        </p:txBody>
      </p:sp>
      <p:sp>
        <p:nvSpPr>
          <p:cNvPr id="12" name="Shape 10"/>
          <p:cNvSpPr/>
          <p:nvPr/>
        </p:nvSpPr>
        <p:spPr>
          <a:xfrm>
            <a:off x="347472" y="2194560"/>
            <a:ext cx="2697480" cy="347472"/>
          </a:xfrm>
          <a:prstGeom prst="rect">
            <a:avLst/>
          </a:prstGeom>
          <a:solidFill>
            <a:srgbClr val="F9F9FB"/>
          </a:solidFill>
          <a:ln w="12700">
            <a:solidFill>
              <a:srgbClr val="E5E7EB"/>
            </a:solidFill>
            <a:prstDash val="solid"/>
          </a:ln>
        </p:spPr>
      </p:sp>
      <p:sp>
        <p:nvSpPr>
          <p:cNvPr id="13" name="Text 11"/>
          <p:cNvSpPr/>
          <p:nvPr/>
        </p:nvSpPr>
        <p:spPr>
          <a:xfrm>
            <a:off x="438912" y="2276856"/>
            <a:ext cx="822960" cy="182880"/>
          </a:xfrm>
          <a:prstGeom prst="rect">
            <a:avLst/>
          </a:prstGeom>
          <a:noFill/>
          <a:ln/>
        </p:spPr>
        <p:txBody>
          <a:bodyPr wrap="square" lIns="0" tIns="0" rIns="0" bIns="0" rtlCol="0" anchor="ctr"/>
          <a:lstStyle/>
          <a:p>
            <a:pPr indent="0" marL="0">
              <a:buNone/>
            </a:pPr>
            <a:r>
              <a:rPr lang="en-US" sz="950" b="1" dirty="0">
                <a:solidFill>
                  <a:srgbClr val="111827"/>
                </a:solidFill>
                <a:latin typeface="Calibri" pitchFamily="34" charset="0"/>
                <a:ea typeface="Calibri" pitchFamily="34" charset="-122"/>
                <a:cs typeface="Calibri" pitchFamily="34" charset="-120"/>
              </a:rPr>
              <a:t>db</a:t>
            </a:r>
            <a:endParaRPr lang="en-US" sz="950" dirty="0"/>
          </a:p>
        </p:txBody>
      </p:sp>
      <p:sp>
        <p:nvSpPr>
          <p:cNvPr id="14" name="Text 12"/>
          <p:cNvSpPr/>
          <p:nvPr/>
        </p:nvSpPr>
        <p:spPr>
          <a:xfrm>
            <a:off x="1298448" y="2276856"/>
            <a:ext cx="1645920" cy="1828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PostgreSQL 16 + pgvector</a:t>
            </a:r>
            <a:endParaRPr lang="en-US" sz="950" dirty="0"/>
          </a:p>
        </p:txBody>
      </p:sp>
      <p:sp>
        <p:nvSpPr>
          <p:cNvPr id="15" name="Shape 13"/>
          <p:cNvSpPr/>
          <p:nvPr/>
        </p:nvSpPr>
        <p:spPr>
          <a:xfrm>
            <a:off x="347472" y="2578608"/>
            <a:ext cx="2697480" cy="347472"/>
          </a:xfrm>
          <a:prstGeom prst="rect">
            <a:avLst/>
          </a:prstGeom>
          <a:solidFill>
            <a:srgbClr val="FFFFFF"/>
          </a:solidFill>
          <a:ln w="12700">
            <a:solidFill>
              <a:srgbClr val="E5E7EB"/>
            </a:solidFill>
            <a:prstDash val="solid"/>
          </a:ln>
        </p:spPr>
      </p:sp>
      <p:sp>
        <p:nvSpPr>
          <p:cNvPr id="16" name="Text 14"/>
          <p:cNvSpPr/>
          <p:nvPr/>
        </p:nvSpPr>
        <p:spPr>
          <a:xfrm>
            <a:off x="438912" y="2660904"/>
            <a:ext cx="822960" cy="182880"/>
          </a:xfrm>
          <a:prstGeom prst="rect">
            <a:avLst/>
          </a:prstGeom>
          <a:noFill/>
          <a:ln/>
        </p:spPr>
        <p:txBody>
          <a:bodyPr wrap="square" lIns="0" tIns="0" rIns="0" bIns="0" rtlCol="0" anchor="ctr"/>
          <a:lstStyle/>
          <a:p>
            <a:pPr indent="0" marL="0">
              <a:buNone/>
            </a:pPr>
            <a:r>
              <a:rPr lang="en-US" sz="950" b="1" dirty="0">
                <a:solidFill>
                  <a:srgbClr val="111827"/>
                </a:solidFill>
                <a:latin typeface="Calibri" pitchFamily="34" charset="0"/>
                <a:ea typeface="Calibri" pitchFamily="34" charset="-122"/>
                <a:cs typeface="Calibri" pitchFamily="34" charset="-120"/>
              </a:rPr>
              <a:t>redis</a:t>
            </a:r>
            <a:endParaRPr lang="en-US" sz="950" dirty="0"/>
          </a:p>
        </p:txBody>
      </p:sp>
      <p:sp>
        <p:nvSpPr>
          <p:cNvPr id="17" name="Text 15"/>
          <p:cNvSpPr/>
          <p:nvPr/>
        </p:nvSpPr>
        <p:spPr>
          <a:xfrm>
            <a:off x="1298448" y="2660904"/>
            <a:ext cx="1645920" cy="1828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Job queue + distributed locks</a:t>
            </a:r>
            <a:endParaRPr lang="en-US" sz="950" dirty="0"/>
          </a:p>
        </p:txBody>
      </p:sp>
      <p:sp>
        <p:nvSpPr>
          <p:cNvPr id="18" name="Shape 16"/>
          <p:cNvSpPr/>
          <p:nvPr/>
        </p:nvSpPr>
        <p:spPr>
          <a:xfrm>
            <a:off x="347472" y="2962656"/>
            <a:ext cx="2697480" cy="347472"/>
          </a:xfrm>
          <a:prstGeom prst="rect">
            <a:avLst/>
          </a:prstGeom>
          <a:solidFill>
            <a:srgbClr val="F9F9FB"/>
          </a:solidFill>
          <a:ln w="12700">
            <a:solidFill>
              <a:srgbClr val="E5E7EB"/>
            </a:solidFill>
            <a:prstDash val="solid"/>
          </a:ln>
        </p:spPr>
      </p:sp>
      <p:sp>
        <p:nvSpPr>
          <p:cNvPr id="19" name="Text 17"/>
          <p:cNvSpPr/>
          <p:nvPr/>
        </p:nvSpPr>
        <p:spPr>
          <a:xfrm>
            <a:off x="438912" y="3044952"/>
            <a:ext cx="822960" cy="182880"/>
          </a:xfrm>
          <a:prstGeom prst="rect">
            <a:avLst/>
          </a:prstGeom>
          <a:noFill/>
          <a:ln/>
        </p:spPr>
        <p:txBody>
          <a:bodyPr wrap="square" lIns="0" tIns="0" rIns="0" bIns="0" rtlCol="0" anchor="ctr"/>
          <a:lstStyle/>
          <a:p>
            <a:pPr indent="0" marL="0">
              <a:buNone/>
            </a:pPr>
            <a:r>
              <a:rPr lang="en-US" sz="950" b="1" dirty="0">
                <a:solidFill>
                  <a:srgbClr val="111827"/>
                </a:solidFill>
                <a:latin typeface="Calibri" pitchFamily="34" charset="0"/>
                <a:ea typeface="Calibri" pitchFamily="34" charset="-122"/>
                <a:cs typeface="Calibri" pitchFamily="34" charset="-120"/>
              </a:rPr>
              <a:t>frontend</a:t>
            </a:r>
            <a:endParaRPr lang="en-US" sz="950" dirty="0"/>
          </a:p>
        </p:txBody>
      </p:sp>
      <p:sp>
        <p:nvSpPr>
          <p:cNvPr id="20" name="Text 18"/>
          <p:cNvSpPr/>
          <p:nvPr/>
        </p:nvSpPr>
        <p:spPr>
          <a:xfrm>
            <a:off x="1298448" y="3044952"/>
            <a:ext cx="1645920" cy="1828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React 18 + Vite dev server</a:t>
            </a:r>
            <a:endParaRPr lang="en-US" sz="950" dirty="0"/>
          </a:p>
        </p:txBody>
      </p:sp>
      <p:sp>
        <p:nvSpPr>
          <p:cNvPr id="21" name="Text 19"/>
          <p:cNvSpPr/>
          <p:nvPr/>
        </p:nvSpPr>
        <p:spPr>
          <a:xfrm>
            <a:off x="3246120" y="1115568"/>
            <a:ext cx="2743200" cy="274320"/>
          </a:xfrm>
          <a:prstGeom prst="rect">
            <a:avLst/>
          </a:prstGeom>
          <a:noFill/>
          <a:ln/>
        </p:spPr>
        <p:txBody>
          <a:bodyPr wrap="square" lIns="0" tIns="0" rIns="0" bIns="0" rtlCol="0" anchor="ctr"/>
          <a:lstStyle/>
          <a:p>
            <a:pPr indent="0" marL="0">
              <a:buNone/>
            </a:pPr>
            <a:r>
              <a:rPr lang="en-US" sz="1000" b="1" dirty="0">
                <a:solidFill>
                  <a:srgbClr val="14B8A6"/>
                </a:solidFill>
              </a:rPr>
              <a:t>Production — AWS</a:t>
            </a:r>
            <a:endParaRPr lang="en-US" sz="1000" dirty="0"/>
          </a:p>
        </p:txBody>
      </p:sp>
      <p:sp>
        <p:nvSpPr>
          <p:cNvPr id="22" name="Shape 20"/>
          <p:cNvSpPr/>
          <p:nvPr/>
        </p:nvSpPr>
        <p:spPr>
          <a:xfrm>
            <a:off x="3246120" y="1426464"/>
            <a:ext cx="2743200" cy="347472"/>
          </a:xfrm>
          <a:prstGeom prst="rect">
            <a:avLst/>
          </a:prstGeom>
          <a:solidFill>
            <a:srgbClr val="F9F9FB"/>
          </a:solidFill>
          <a:ln w="12700">
            <a:solidFill>
              <a:srgbClr val="E5E7EB"/>
            </a:solidFill>
            <a:prstDash val="solid"/>
          </a:ln>
        </p:spPr>
      </p:sp>
      <p:sp>
        <p:nvSpPr>
          <p:cNvPr id="23" name="Text 21"/>
          <p:cNvSpPr/>
          <p:nvPr/>
        </p:nvSpPr>
        <p:spPr>
          <a:xfrm>
            <a:off x="3328416" y="1508760"/>
            <a:ext cx="1005840" cy="182880"/>
          </a:xfrm>
          <a:prstGeom prst="rect">
            <a:avLst/>
          </a:prstGeom>
          <a:noFill/>
          <a:ln/>
        </p:spPr>
        <p:txBody>
          <a:bodyPr wrap="square" lIns="0" tIns="0" rIns="0" bIns="0" rtlCol="0" anchor="ctr"/>
          <a:lstStyle/>
          <a:p>
            <a:pPr indent="0" marL="0">
              <a:buNone/>
            </a:pPr>
            <a:r>
              <a:rPr lang="en-US" sz="900" b="1" dirty="0">
                <a:solidFill>
                  <a:srgbClr val="111827"/>
                </a:solidFill>
                <a:latin typeface="Calibri" pitchFamily="34" charset="0"/>
                <a:ea typeface="Calibri" pitchFamily="34" charset="-122"/>
                <a:cs typeface="Calibri" pitchFamily="34" charset="-120"/>
              </a:rPr>
              <a:t>EC2</a:t>
            </a:r>
            <a:endParaRPr lang="en-US" sz="900" dirty="0"/>
          </a:p>
        </p:txBody>
      </p:sp>
      <p:sp>
        <p:nvSpPr>
          <p:cNvPr id="24" name="Text 22"/>
          <p:cNvSpPr/>
          <p:nvPr/>
        </p:nvSpPr>
        <p:spPr>
          <a:xfrm>
            <a:off x="4370832" y="1508760"/>
            <a:ext cx="1536192" cy="18288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Backend + worker via Docker Compose; systemd auto-restarts</a:t>
            </a:r>
            <a:endParaRPr lang="en-US" sz="850" dirty="0"/>
          </a:p>
        </p:txBody>
      </p:sp>
      <p:sp>
        <p:nvSpPr>
          <p:cNvPr id="25" name="Shape 23"/>
          <p:cNvSpPr/>
          <p:nvPr/>
        </p:nvSpPr>
        <p:spPr>
          <a:xfrm>
            <a:off x="3246120" y="1810512"/>
            <a:ext cx="2743200" cy="347472"/>
          </a:xfrm>
          <a:prstGeom prst="rect">
            <a:avLst/>
          </a:prstGeom>
          <a:solidFill>
            <a:srgbClr val="FFFFFF"/>
          </a:solidFill>
          <a:ln w="12700">
            <a:solidFill>
              <a:srgbClr val="E5E7EB"/>
            </a:solidFill>
            <a:prstDash val="solid"/>
          </a:ln>
        </p:spPr>
      </p:sp>
      <p:sp>
        <p:nvSpPr>
          <p:cNvPr id="26" name="Text 24"/>
          <p:cNvSpPr/>
          <p:nvPr/>
        </p:nvSpPr>
        <p:spPr>
          <a:xfrm>
            <a:off x="3328416" y="1892808"/>
            <a:ext cx="1005840" cy="182880"/>
          </a:xfrm>
          <a:prstGeom prst="rect">
            <a:avLst/>
          </a:prstGeom>
          <a:noFill/>
          <a:ln/>
        </p:spPr>
        <p:txBody>
          <a:bodyPr wrap="square" lIns="0" tIns="0" rIns="0" bIns="0" rtlCol="0" anchor="ctr"/>
          <a:lstStyle/>
          <a:p>
            <a:pPr indent="0" marL="0">
              <a:buNone/>
            </a:pPr>
            <a:r>
              <a:rPr lang="en-US" sz="900" b="1" dirty="0">
                <a:solidFill>
                  <a:srgbClr val="111827"/>
                </a:solidFill>
                <a:latin typeface="Calibri" pitchFamily="34" charset="0"/>
                <a:ea typeface="Calibri" pitchFamily="34" charset="-122"/>
                <a:cs typeface="Calibri" pitchFamily="34" charset="-120"/>
              </a:rPr>
              <a:t>S3 + CloudFront</a:t>
            </a:r>
            <a:endParaRPr lang="en-US" sz="900" dirty="0"/>
          </a:p>
        </p:txBody>
      </p:sp>
      <p:sp>
        <p:nvSpPr>
          <p:cNvPr id="27" name="Text 25"/>
          <p:cNvSpPr/>
          <p:nvPr/>
        </p:nvSpPr>
        <p:spPr>
          <a:xfrm>
            <a:off x="4370832" y="1892808"/>
            <a:ext cx="1536192" cy="18288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React frontend — global CDN, HTTPS, cache invalidated on every deploy</a:t>
            </a:r>
            <a:endParaRPr lang="en-US" sz="850" dirty="0"/>
          </a:p>
        </p:txBody>
      </p:sp>
      <p:sp>
        <p:nvSpPr>
          <p:cNvPr id="28" name="Shape 26"/>
          <p:cNvSpPr/>
          <p:nvPr/>
        </p:nvSpPr>
        <p:spPr>
          <a:xfrm>
            <a:off x="3246120" y="2194560"/>
            <a:ext cx="2743200" cy="347472"/>
          </a:xfrm>
          <a:prstGeom prst="rect">
            <a:avLst/>
          </a:prstGeom>
          <a:solidFill>
            <a:srgbClr val="F9F9FB"/>
          </a:solidFill>
          <a:ln w="12700">
            <a:solidFill>
              <a:srgbClr val="E5E7EB"/>
            </a:solidFill>
            <a:prstDash val="solid"/>
          </a:ln>
        </p:spPr>
      </p:sp>
      <p:sp>
        <p:nvSpPr>
          <p:cNvPr id="29" name="Text 27"/>
          <p:cNvSpPr/>
          <p:nvPr/>
        </p:nvSpPr>
        <p:spPr>
          <a:xfrm>
            <a:off x="3328416" y="2276856"/>
            <a:ext cx="1005840" cy="182880"/>
          </a:xfrm>
          <a:prstGeom prst="rect">
            <a:avLst/>
          </a:prstGeom>
          <a:noFill/>
          <a:ln/>
        </p:spPr>
        <p:txBody>
          <a:bodyPr wrap="square" lIns="0" tIns="0" rIns="0" bIns="0" rtlCol="0" anchor="ctr"/>
          <a:lstStyle/>
          <a:p>
            <a:pPr indent="0" marL="0">
              <a:buNone/>
            </a:pPr>
            <a:r>
              <a:rPr lang="en-US" sz="900" b="1" dirty="0">
                <a:solidFill>
                  <a:srgbClr val="111827"/>
                </a:solidFill>
                <a:latin typeface="Calibri" pitchFamily="34" charset="0"/>
                <a:ea typeface="Calibri" pitchFamily="34" charset="-122"/>
                <a:cs typeface="Calibri" pitchFamily="34" charset="-120"/>
              </a:rPr>
              <a:t>SSM Param Store</a:t>
            </a:r>
            <a:endParaRPr lang="en-US" sz="900" dirty="0"/>
          </a:p>
        </p:txBody>
      </p:sp>
      <p:sp>
        <p:nvSpPr>
          <p:cNvPr id="30" name="Text 28"/>
          <p:cNvSpPr/>
          <p:nvPr/>
        </p:nvSpPr>
        <p:spPr>
          <a:xfrm>
            <a:off x="4370832" y="2276856"/>
            <a:ext cx="1536192" cy="18288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Secrets vault — .env as SecureStrings. Never in code.</a:t>
            </a:r>
            <a:endParaRPr lang="en-US" sz="850" dirty="0"/>
          </a:p>
        </p:txBody>
      </p:sp>
      <p:sp>
        <p:nvSpPr>
          <p:cNvPr id="31" name="Shape 29"/>
          <p:cNvSpPr/>
          <p:nvPr/>
        </p:nvSpPr>
        <p:spPr>
          <a:xfrm>
            <a:off x="3246120" y="2578608"/>
            <a:ext cx="2743200" cy="347472"/>
          </a:xfrm>
          <a:prstGeom prst="rect">
            <a:avLst/>
          </a:prstGeom>
          <a:solidFill>
            <a:srgbClr val="FFFFFF"/>
          </a:solidFill>
          <a:ln w="12700">
            <a:solidFill>
              <a:srgbClr val="E5E7EB"/>
            </a:solidFill>
            <a:prstDash val="solid"/>
          </a:ln>
        </p:spPr>
      </p:sp>
      <p:sp>
        <p:nvSpPr>
          <p:cNvPr id="32" name="Text 30"/>
          <p:cNvSpPr/>
          <p:nvPr/>
        </p:nvSpPr>
        <p:spPr>
          <a:xfrm>
            <a:off x="3328416" y="2660904"/>
            <a:ext cx="1005840" cy="182880"/>
          </a:xfrm>
          <a:prstGeom prst="rect">
            <a:avLst/>
          </a:prstGeom>
          <a:noFill/>
          <a:ln/>
        </p:spPr>
        <p:txBody>
          <a:bodyPr wrap="square" lIns="0" tIns="0" rIns="0" bIns="0" rtlCol="0" anchor="ctr"/>
          <a:lstStyle/>
          <a:p>
            <a:pPr indent="0" marL="0">
              <a:buNone/>
            </a:pPr>
            <a:r>
              <a:rPr lang="en-US" sz="900" b="1" dirty="0">
                <a:solidFill>
                  <a:srgbClr val="111827"/>
                </a:solidFill>
                <a:latin typeface="Calibri" pitchFamily="34" charset="0"/>
                <a:ea typeface="Calibri" pitchFamily="34" charset="-122"/>
                <a:cs typeface="Calibri" pitchFamily="34" charset="-120"/>
              </a:rPr>
              <a:t>CloudWatch</a:t>
            </a:r>
            <a:endParaRPr lang="en-US" sz="900" dirty="0"/>
          </a:p>
        </p:txBody>
      </p:sp>
      <p:sp>
        <p:nvSpPr>
          <p:cNvPr id="33" name="Text 31"/>
          <p:cNvSpPr/>
          <p:nvPr/>
        </p:nvSpPr>
        <p:spPr>
          <a:xfrm>
            <a:off x="4370832" y="2660904"/>
            <a:ext cx="1536192" cy="18288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Container logs, metric filters, 6 alarms, dashboard</a:t>
            </a:r>
            <a:endParaRPr lang="en-US" sz="850" dirty="0"/>
          </a:p>
        </p:txBody>
      </p:sp>
      <p:sp>
        <p:nvSpPr>
          <p:cNvPr id="34" name="Shape 32"/>
          <p:cNvSpPr/>
          <p:nvPr/>
        </p:nvSpPr>
        <p:spPr>
          <a:xfrm>
            <a:off x="3246120" y="2962656"/>
            <a:ext cx="2743200" cy="347472"/>
          </a:xfrm>
          <a:prstGeom prst="rect">
            <a:avLst/>
          </a:prstGeom>
          <a:solidFill>
            <a:srgbClr val="F9F9FB"/>
          </a:solidFill>
          <a:ln w="12700">
            <a:solidFill>
              <a:srgbClr val="E5E7EB"/>
            </a:solidFill>
            <a:prstDash val="solid"/>
          </a:ln>
        </p:spPr>
      </p:sp>
      <p:sp>
        <p:nvSpPr>
          <p:cNvPr id="35" name="Text 33"/>
          <p:cNvSpPr/>
          <p:nvPr/>
        </p:nvSpPr>
        <p:spPr>
          <a:xfrm>
            <a:off x="3328416" y="3044952"/>
            <a:ext cx="1005840" cy="182880"/>
          </a:xfrm>
          <a:prstGeom prst="rect">
            <a:avLst/>
          </a:prstGeom>
          <a:noFill/>
          <a:ln/>
        </p:spPr>
        <p:txBody>
          <a:bodyPr wrap="square" lIns="0" tIns="0" rIns="0" bIns="0" rtlCol="0" anchor="ctr"/>
          <a:lstStyle/>
          <a:p>
            <a:pPr indent="0" marL="0">
              <a:buNone/>
            </a:pPr>
            <a:r>
              <a:rPr lang="en-US" sz="900" b="1" dirty="0">
                <a:solidFill>
                  <a:srgbClr val="111827"/>
                </a:solidFill>
                <a:latin typeface="Calibri" pitchFamily="34" charset="0"/>
                <a:ea typeface="Calibri" pitchFamily="34" charset="-122"/>
                <a:cs typeface="Calibri" pitchFamily="34" charset="-120"/>
              </a:rPr>
              <a:t>Elastic IP</a:t>
            </a:r>
            <a:endParaRPr lang="en-US" sz="900" dirty="0"/>
          </a:p>
        </p:txBody>
      </p:sp>
      <p:sp>
        <p:nvSpPr>
          <p:cNvPr id="36" name="Text 34"/>
          <p:cNvSpPr/>
          <p:nvPr/>
        </p:nvSpPr>
        <p:spPr>
          <a:xfrm>
            <a:off x="4370832" y="3044952"/>
            <a:ext cx="1536192" cy="18288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Stable address — CloudFront origin never needs updating</a:t>
            </a:r>
            <a:endParaRPr lang="en-US" sz="850" dirty="0"/>
          </a:p>
        </p:txBody>
      </p:sp>
      <p:sp>
        <p:nvSpPr>
          <p:cNvPr id="37" name="Shape 35"/>
          <p:cNvSpPr/>
          <p:nvPr/>
        </p:nvSpPr>
        <p:spPr>
          <a:xfrm>
            <a:off x="3246120" y="3346704"/>
            <a:ext cx="2743200" cy="347472"/>
          </a:xfrm>
          <a:prstGeom prst="rect">
            <a:avLst/>
          </a:prstGeom>
          <a:solidFill>
            <a:srgbClr val="FFFFFF"/>
          </a:solidFill>
          <a:ln w="12700">
            <a:solidFill>
              <a:srgbClr val="E5E7EB"/>
            </a:solidFill>
            <a:prstDash val="solid"/>
          </a:ln>
        </p:spPr>
      </p:sp>
      <p:sp>
        <p:nvSpPr>
          <p:cNvPr id="38" name="Text 36"/>
          <p:cNvSpPr/>
          <p:nvPr/>
        </p:nvSpPr>
        <p:spPr>
          <a:xfrm>
            <a:off x="3328416" y="3429000"/>
            <a:ext cx="1005840" cy="182880"/>
          </a:xfrm>
          <a:prstGeom prst="rect">
            <a:avLst/>
          </a:prstGeom>
          <a:noFill/>
          <a:ln/>
        </p:spPr>
        <p:txBody>
          <a:bodyPr wrap="square" lIns="0" tIns="0" rIns="0" bIns="0" rtlCol="0" anchor="ctr"/>
          <a:lstStyle/>
          <a:p>
            <a:pPr indent="0" marL="0">
              <a:buNone/>
            </a:pPr>
            <a:r>
              <a:rPr lang="en-US" sz="900" b="1" dirty="0">
                <a:solidFill>
                  <a:srgbClr val="111827"/>
                </a:solidFill>
                <a:latin typeface="Calibri" pitchFamily="34" charset="0"/>
                <a:ea typeface="Calibri" pitchFamily="34" charset="-122"/>
                <a:cs typeface="Calibri" pitchFamily="34" charset="-120"/>
              </a:rPr>
              <a:t>IAM + OIDC</a:t>
            </a:r>
            <a:endParaRPr lang="en-US" sz="900" dirty="0"/>
          </a:p>
        </p:txBody>
      </p:sp>
      <p:sp>
        <p:nvSpPr>
          <p:cNvPr id="39" name="Text 37"/>
          <p:cNvSpPr/>
          <p:nvPr/>
        </p:nvSpPr>
        <p:spPr>
          <a:xfrm>
            <a:off x="4370832" y="3429000"/>
            <a:ext cx="1536192" cy="18288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GitHub Actions assumes role via OIDC — no long-lived AWS credentials</a:t>
            </a:r>
            <a:endParaRPr lang="en-US" sz="850" dirty="0"/>
          </a:p>
        </p:txBody>
      </p:sp>
      <p:sp>
        <p:nvSpPr>
          <p:cNvPr id="40" name="Text 38"/>
          <p:cNvSpPr/>
          <p:nvPr/>
        </p:nvSpPr>
        <p:spPr>
          <a:xfrm>
            <a:off x="6172200" y="1115568"/>
            <a:ext cx="2743200" cy="274320"/>
          </a:xfrm>
          <a:prstGeom prst="rect">
            <a:avLst/>
          </a:prstGeom>
          <a:noFill/>
          <a:ln/>
        </p:spPr>
        <p:txBody>
          <a:bodyPr wrap="square" lIns="0" tIns="0" rIns="0" bIns="0" rtlCol="0" anchor="ctr"/>
          <a:lstStyle/>
          <a:p>
            <a:pPr indent="0" marL="0">
              <a:buNone/>
            </a:pPr>
            <a:r>
              <a:rPr lang="en-US" sz="1000" b="1" dirty="0">
                <a:solidFill>
                  <a:srgbClr val="14B8A6"/>
                </a:solidFill>
              </a:rPr>
              <a:t>CI/CD — GitHub Actions, 3 jobs on push to main</a:t>
            </a:r>
            <a:endParaRPr lang="en-US" sz="1000" dirty="0"/>
          </a:p>
        </p:txBody>
      </p:sp>
      <p:sp>
        <p:nvSpPr>
          <p:cNvPr id="41" name="Shape 39"/>
          <p:cNvSpPr/>
          <p:nvPr/>
        </p:nvSpPr>
        <p:spPr>
          <a:xfrm>
            <a:off x="6172200" y="1426464"/>
            <a:ext cx="2743200" cy="80467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42" name="Shape 40"/>
          <p:cNvSpPr/>
          <p:nvPr/>
        </p:nvSpPr>
        <p:spPr>
          <a:xfrm>
            <a:off x="6172200" y="1426464"/>
            <a:ext cx="45720" cy="804672"/>
          </a:xfrm>
          <a:prstGeom prst="rect">
            <a:avLst/>
          </a:prstGeom>
          <a:solidFill>
            <a:srgbClr val="6366F1"/>
          </a:solidFill>
          <a:ln w="12700">
            <a:solidFill>
              <a:srgbClr val="6366F1"/>
            </a:solidFill>
            <a:prstDash val="solid"/>
          </a:ln>
        </p:spPr>
      </p:sp>
      <p:sp>
        <p:nvSpPr>
          <p:cNvPr id="43" name="Text 41"/>
          <p:cNvSpPr/>
          <p:nvPr/>
        </p:nvSpPr>
        <p:spPr>
          <a:xfrm>
            <a:off x="6291072" y="1490472"/>
            <a:ext cx="2542032"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Job 1 — Terraform</a:t>
            </a:r>
            <a:endParaRPr lang="en-US" sz="1100" dirty="0"/>
          </a:p>
        </p:txBody>
      </p:sp>
      <p:sp>
        <p:nvSpPr>
          <p:cNvPr id="44" name="Text 42"/>
          <p:cNvSpPr/>
          <p:nvPr/>
        </p:nvSpPr>
        <p:spPr>
          <a:xfrm>
            <a:off x="6291072" y="1737360"/>
            <a:ext cx="2542032" cy="420624"/>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terraform apply — provisions/updates all infra. State in S3, locks in DynamoDB. New env = one workspace new + apply.</a:t>
            </a:r>
            <a:endParaRPr lang="en-US" sz="880" dirty="0"/>
          </a:p>
        </p:txBody>
      </p:sp>
      <p:sp>
        <p:nvSpPr>
          <p:cNvPr id="45" name="Shape 43"/>
          <p:cNvSpPr/>
          <p:nvPr/>
        </p:nvSpPr>
        <p:spPr>
          <a:xfrm>
            <a:off x="6172200" y="2340864"/>
            <a:ext cx="2743200" cy="80467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46" name="Shape 44"/>
          <p:cNvSpPr/>
          <p:nvPr/>
        </p:nvSpPr>
        <p:spPr>
          <a:xfrm>
            <a:off x="6172200" y="2340864"/>
            <a:ext cx="45720" cy="804672"/>
          </a:xfrm>
          <a:prstGeom prst="rect">
            <a:avLst/>
          </a:prstGeom>
          <a:solidFill>
            <a:srgbClr val="14B8A6"/>
          </a:solidFill>
          <a:ln w="12700">
            <a:solidFill>
              <a:srgbClr val="14B8A6"/>
            </a:solidFill>
            <a:prstDash val="solid"/>
          </a:ln>
        </p:spPr>
      </p:sp>
      <p:sp>
        <p:nvSpPr>
          <p:cNvPr id="47" name="Text 45"/>
          <p:cNvSpPr/>
          <p:nvPr/>
        </p:nvSpPr>
        <p:spPr>
          <a:xfrm>
            <a:off x="6291072" y="2404872"/>
            <a:ext cx="2542032"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Job 2 — Frontend</a:t>
            </a:r>
            <a:endParaRPr lang="en-US" sz="1100" dirty="0"/>
          </a:p>
        </p:txBody>
      </p:sp>
      <p:sp>
        <p:nvSpPr>
          <p:cNvPr id="48" name="Text 46"/>
          <p:cNvSpPr/>
          <p:nvPr/>
        </p:nvSpPr>
        <p:spPr>
          <a:xfrm>
            <a:off x="6291072" y="2651760"/>
            <a:ext cx="2542032" cy="420624"/>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Vite build → S3 sync → CloudFront invalidation. Runs parallel with Job 3.</a:t>
            </a:r>
            <a:endParaRPr lang="en-US" sz="880" dirty="0"/>
          </a:p>
        </p:txBody>
      </p:sp>
      <p:sp>
        <p:nvSpPr>
          <p:cNvPr id="49" name="Shape 47"/>
          <p:cNvSpPr/>
          <p:nvPr/>
        </p:nvSpPr>
        <p:spPr>
          <a:xfrm>
            <a:off x="6172200" y="3255264"/>
            <a:ext cx="2743200" cy="804672"/>
          </a:xfrm>
          <a:prstGeom prst="rect">
            <a:avLst/>
          </a:prstGeom>
          <a:solidFill>
            <a:srgbClr val="FFFFFF"/>
          </a:solidFill>
          <a:ln w="12700">
            <a:solidFill>
              <a:srgbClr val="E5E7EB"/>
            </a:solidFill>
            <a:prstDash val="solid"/>
          </a:ln>
          <a:effectLst>
            <a:outerShdw sx="100000" sy="100000" kx="0" ky="0" algn="bl" rotWithShape="0" blurRad="101600" dist="25400" dir="8100000">
              <a:srgbClr val="000000">
                <a:alpha val="18000"/>
              </a:srgbClr>
            </a:outerShdw>
          </a:effectLst>
        </p:spPr>
      </p:sp>
      <p:sp>
        <p:nvSpPr>
          <p:cNvPr id="50" name="Shape 48"/>
          <p:cNvSpPr/>
          <p:nvPr/>
        </p:nvSpPr>
        <p:spPr>
          <a:xfrm>
            <a:off x="6172200" y="3255264"/>
            <a:ext cx="45720" cy="804672"/>
          </a:xfrm>
          <a:prstGeom prst="rect">
            <a:avLst/>
          </a:prstGeom>
          <a:solidFill>
            <a:srgbClr val="F59E0B"/>
          </a:solidFill>
          <a:ln w="12700">
            <a:solidFill>
              <a:srgbClr val="F59E0B"/>
            </a:solidFill>
            <a:prstDash val="solid"/>
          </a:ln>
        </p:spPr>
      </p:sp>
      <p:sp>
        <p:nvSpPr>
          <p:cNvPr id="51" name="Text 49"/>
          <p:cNvSpPr/>
          <p:nvPr/>
        </p:nvSpPr>
        <p:spPr>
          <a:xfrm>
            <a:off x="6291072" y="3319272"/>
            <a:ext cx="2542032" cy="219456"/>
          </a:xfrm>
          <a:prstGeom prst="rect">
            <a:avLst/>
          </a:prstGeom>
          <a:noFill/>
          <a:ln/>
        </p:spPr>
        <p:txBody>
          <a:bodyPr wrap="square" lIns="0" tIns="0" rIns="0" bIns="0" rtlCol="0" anchor="ctr"/>
          <a:lstStyle/>
          <a:p>
            <a:pPr indent="0" marL="0">
              <a:buNone/>
            </a:pPr>
            <a:r>
              <a:rPr lang="en-US" sz="1100" b="1" dirty="0">
                <a:solidFill>
                  <a:srgbClr val="111827"/>
                </a:solidFill>
                <a:latin typeface="Calibri" pitchFamily="34" charset="0"/>
                <a:ea typeface="Calibri" pitchFamily="34" charset="-122"/>
                <a:cs typeface="Calibri" pitchFamily="34" charset="-120"/>
              </a:rPr>
              <a:t>Job 3 — Backend</a:t>
            </a:r>
            <a:endParaRPr lang="en-US" sz="1100" dirty="0"/>
          </a:p>
        </p:txBody>
      </p:sp>
      <p:sp>
        <p:nvSpPr>
          <p:cNvPr id="52" name="Text 50"/>
          <p:cNvSpPr/>
          <p:nvPr/>
        </p:nvSpPr>
        <p:spPr>
          <a:xfrm>
            <a:off x="6291072" y="3566160"/>
            <a:ext cx="2542032" cy="420624"/>
          </a:xfrm>
          <a:prstGeom prst="rect">
            <a:avLst/>
          </a:prstGeom>
          <a:noFill/>
          <a:ln/>
        </p:spPr>
        <p:txBody>
          <a:bodyPr wrap="square" lIns="0" tIns="0" rIns="0" bIns="0" rtlCol="0" anchor="ctr"/>
          <a:lstStyle/>
          <a:p>
            <a:pPr indent="0" marL="0">
              <a:buNone/>
            </a:pPr>
            <a:r>
              <a:rPr lang="en-US" sz="880" dirty="0">
                <a:solidFill>
                  <a:srgbClr val="6B7280"/>
                </a:solidFill>
                <a:latin typeface="Calibri" pitchFamily="34" charset="0"/>
                <a:ea typeface="Calibri" pitchFamily="34" charset="-122"/>
                <a:cs typeface="Calibri" pitchFamily="34" charset="-120"/>
              </a:rPr>
              <a:t>SSM RunCommand: git pull + docker compose up --build. No SSH key, no open port 22. Full audit in CloudTrail.</a:t>
            </a:r>
            <a:endParaRPr lang="en-US" sz="880" dirty="0"/>
          </a:p>
        </p:txBody>
      </p:sp>
      <p:sp>
        <p:nvSpPr>
          <p:cNvPr id="53" name="Text 51"/>
          <p:cNvSpPr/>
          <p:nvPr/>
        </p:nvSpPr>
        <p:spPr>
          <a:xfrm>
            <a:off x="347472" y="4617720"/>
            <a:ext cx="8503920" cy="420624"/>
          </a:xfrm>
          <a:prstGeom prst="rect">
            <a:avLst/>
          </a:prstGeom>
          <a:noFill/>
          <a:ln/>
        </p:spPr>
        <p:txBody>
          <a:bodyPr wrap="square" lIns="0" tIns="0" rIns="0" bIns="0" rtlCol="0" anchor="ctr"/>
          <a:lstStyle/>
          <a:p>
            <a:pPr indent="0" marL="0">
              <a:buNone/>
            </a:pPr>
            <a:r>
              <a:rPr lang="en-US" sz="880" i="1" dirty="0">
                <a:solidFill>
                  <a:srgbClr val="6B7280"/>
                </a:solidFill>
                <a:latin typeface="Calibri" pitchFamily="34" charset="0"/>
                <a:ea typeface="Calibri" pitchFamily="34" charset="-122"/>
                <a:cs typeface="Calibri" pitchFamily="34" charset="-120"/>
              </a:rPr>
              <a:t>Why EC2 not Lambda/Fargate? ARQ worker needs a persistent Redis connection and runs long jobs (3–5 min). Serverless cold starts make both worse. Why SSM RunCommand? No key rotation risk, no open port 22, full CloudTrail audit. Why Terraform? Every AWS resource version-controlled, reproducible in one command.</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6366F1"/>
          </a:solidFill>
          <a:ln w="12700">
            <a:solidFill>
              <a:srgbClr val="6366F1"/>
            </a:solidFill>
            <a:prstDash val="solid"/>
          </a:ln>
        </p:spPr>
      </p:sp>
      <p:sp>
        <p:nvSpPr>
          <p:cNvPr id="3" name="Text 1"/>
          <p:cNvSpPr/>
          <p:nvPr/>
        </p:nvSpPr>
        <p:spPr>
          <a:xfrm>
            <a:off x="457200" y="182880"/>
            <a:ext cx="8229600" cy="237744"/>
          </a:xfrm>
          <a:prstGeom prst="rect">
            <a:avLst/>
          </a:prstGeom>
          <a:noFill/>
          <a:ln/>
        </p:spPr>
        <p:txBody>
          <a:bodyPr wrap="square" lIns="0" tIns="0" rIns="0" bIns="0" rtlCol="0" anchor="ctr"/>
          <a:lstStyle/>
          <a:p>
            <a:pPr indent="0" marL="0">
              <a:buNone/>
            </a:pPr>
            <a:r>
              <a:rPr lang="en-US" sz="900" b="1" spc="500" kern="0" dirty="0">
                <a:solidFill>
                  <a:srgbClr val="6366F1"/>
                </a:solidFill>
              </a:rPr>
              <a:t>ENGINEERING PRACTICES</a:t>
            </a:r>
            <a:endParaRPr lang="en-US" sz="900" dirty="0"/>
          </a:p>
        </p:txBody>
      </p:sp>
      <p:sp>
        <p:nvSpPr>
          <p:cNvPr id="4" name="Text 2"/>
          <p:cNvSpPr/>
          <p:nvPr/>
        </p:nvSpPr>
        <p:spPr>
          <a:xfrm>
            <a:off x="457200" y="457200"/>
            <a:ext cx="8229600" cy="566928"/>
          </a:xfrm>
          <a:prstGeom prst="rect">
            <a:avLst/>
          </a:prstGeom>
          <a:noFill/>
          <a:ln/>
        </p:spPr>
        <p:txBody>
          <a:bodyPr wrap="square" lIns="0" tIns="0" rIns="0" bIns="0" rtlCol="0" anchor="ctr"/>
          <a:lstStyle/>
          <a:p>
            <a:pPr algn="l" indent="0" marL="0">
              <a:buNone/>
            </a:pPr>
            <a:r>
              <a:rPr lang="en-US" sz="2200" b="1" dirty="0">
                <a:solidFill>
                  <a:srgbClr val="F1F5F9"/>
                </a:solidFill>
                <a:latin typeface="Calibri" pitchFamily="34" charset="0"/>
                <a:ea typeface="Calibri" pitchFamily="34" charset="-122"/>
                <a:cs typeface="Calibri" pitchFamily="34" charset="-120"/>
              </a:rPr>
              <a:t>Built to be read, tested, and operated — not just demoed.</a:t>
            </a:r>
            <a:endParaRPr lang="en-US" sz="2200" dirty="0"/>
          </a:p>
        </p:txBody>
      </p:sp>
      <p:sp>
        <p:nvSpPr>
          <p:cNvPr id="5" name="Shape 3"/>
          <p:cNvSpPr/>
          <p:nvPr/>
        </p:nvSpPr>
        <p:spPr>
          <a:xfrm>
            <a:off x="256032" y="1170432"/>
            <a:ext cx="4160520" cy="1755648"/>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6" name="Shape 4"/>
          <p:cNvSpPr/>
          <p:nvPr/>
        </p:nvSpPr>
        <p:spPr>
          <a:xfrm>
            <a:off x="256032" y="1170432"/>
            <a:ext cx="4160520" cy="54864"/>
          </a:xfrm>
          <a:prstGeom prst="rect">
            <a:avLst/>
          </a:prstGeom>
          <a:solidFill>
            <a:srgbClr val="6366F1"/>
          </a:solidFill>
          <a:ln w="12700">
            <a:solidFill>
              <a:srgbClr val="6366F1"/>
            </a:solidFill>
            <a:prstDash val="solid"/>
          </a:ln>
        </p:spPr>
      </p:sp>
      <p:sp>
        <p:nvSpPr>
          <p:cNvPr id="7" name="Text 5"/>
          <p:cNvSpPr/>
          <p:nvPr/>
        </p:nvSpPr>
        <p:spPr>
          <a:xfrm>
            <a:off x="384048" y="1243584"/>
            <a:ext cx="3913632" cy="274320"/>
          </a:xfrm>
          <a:prstGeom prst="rect">
            <a:avLst/>
          </a:prstGeom>
          <a:noFill/>
          <a:ln/>
        </p:spPr>
        <p:txBody>
          <a:bodyPr wrap="square" lIns="0" tIns="0" rIns="0" bIns="0"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Code structure</a:t>
            </a:r>
            <a:endParaRPr lang="en-US" sz="1100" dirty="0"/>
          </a:p>
        </p:txBody>
      </p:sp>
      <p:sp>
        <p:nvSpPr>
          <p:cNvPr id="8" name="Text 6"/>
          <p:cNvSpPr/>
          <p:nvPr/>
        </p:nvSpPr>
        <p:spPr>
          <a:xfrm>
            <a:off x="384048" y="1554480"/>
            <a:ext cx="3913632" cy="1316736"/>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Domain-driven: app/domains/{chat, retrieval, answering, knowledge, memory, policy, sharing, evaluation, embedding}. Thin API routers — no business logic in route handlers. Pydantic v2 at every boundary: requests, responses, config, LLM output schemas. Every module has a docstring stating what it does and what it does not do.</a:t>
            </a:r>
            <a:endParaRPr lang="en-US" sz="950" dirty="0"/>
          </a:p>
        </p:txBody>
      </p:sp>
      <p:sp>
        <p:nvSpPr>
          <p:cNvPr id="9" name="Shape 7"/>
          <p:cNvSpPr/>
          <p:nvPr/>
        </p:nvSpPr>
        <p:spPr>
          <a:xfrm>
            <a:off x="4681728" y="1170432"/>
            <a:ext cx="4160520" cy="1755648"/>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10" name="Shape 8"/>
          <p:cNvSpPr/>
          <p:nvPr/>
        </p:nvSpPr>
        <p:spPr>
          <a:xfrm>
            <a:off x="4681728" y="1170432"/>
            <a:ext cx="4160520" cy="54864"/>
          </a:xfrm>
          <a:prstGeom prst="rect">
            <a:avLst/>
          </a:prstGeom>
          <a:solidFill>
            <a:srgbClr val="14B8A6"/>
          </a:solidFill>
          <a:ln w="12700">
            <a:solidFill>
              <a:srgbClr val="14B8A6"/>
            </a:solidFill>
            <a:prstDash val="solid"/>
          </a:ln>
        </p:spPr>
      </p:sp>
      <p:sp>
        <p:nvSpPr>
          <p:cNvPr id="11" name="Text 9"/>
          <p:cNvSpPr/>
          <p:nvPr/>
        </p:nvSpPr>
        <p:spPr>
          <a:xfrm>
            <a:off x="4809744" y="1243584"/>
            <a:ext cx="3913632" cy="274320"/>
          </a:xfrm>
          <a:prstGeom prst="rect">
            <a:avLst/>
          </a:prstGeom>
          <a:noFill/>
          <a:ln/>
        </p:spPr>
        <p:txBody>
          <a:bodyPr wrap="square" lIns="0" tIns="0" rIns="0" bIns="0" rtlCol="0" anchor="ctr"/>
          <a:lstStyle/>
          <a:p>
            <a:pPr indent="0" marL="0">
              <a:buNone/>
            </a:pPr>
            <a:r>
              <a:rPr lang="en-US" sz="1100" b="1" dirty="0">
                <a:solidFill>
                  <a:srgbClr val="14B8A6"/>
                </a:solidFill>
                <a:latin typeface="Calibri" pitchFamily="34" charset="0"/>
                <a:ea typeface="Calibri" pitchFamily="34" charset="-122"/>
                <a:cs typeface="Calibri" pitchFamily="34" charset="-120"/>
              </a:rPr>
              <a:t>Tests — 30+ unit test files</a:t>
            </a:r>
            <a:endParaRPr lang="en-US" sz="1100" dirty="0"/>
          </a:p>
        </p:txBody>
      </p:sp>
      <p:sp>
        <p:nvSpPr>
          <p:cNvPr id="12" name="Text 10"/>
          <p:cNvSpPr/>
          <p:nvPr/>
        </p:nvSpPr>
        <p:spPr>
          <a:xfrm>
            <a:off x="4809744" y="1554480"/>
            <a:ext cx="3913632" cy="1316736"/>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Quality gate JSON + Pydantic schema enforcement · Evidence verifier grounded reference checking · Chat routing decisions (workspace vs twin, scope vs substantive) · Hybrid retrieval merge + deduplication logic · Policy rules (file blocking, secret scanning, content tiering) · Embedding provider failover · Memory pipeline · Sharing service (slug uniqueness, active/inactive, scope enforcement). All unit tests mock the LLM — no live API calls, CI-friendly.</a:t>
            </a:r>
            <a:endParaRPr lang="en-US" sz="950" dirty="0"/>
          </a:p>
        </p:txBody>
      </p:sp>
      <p:sp>
        <p:nvSpPr>
          <p:cNvPr id="13" name="Shape 11"/>
          <p:cNvSpPr/>
          <p:nvPr/>
        </p:nvSpPr>
        <p:spPr>
          <a:xfrm>
            <a:off x="256032" y="3035808"/>
            <a:ext cx="4160520" cy="1828800"/>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14" name="Shape 12"/>
          <p:cNvSpPr/>
          <p:nvPr/>
        </p:nvSpPr>
        <p:spPr>
          <a:xfrm>
            <a:off x="256032" y="3035808"/>
            <a:ext cx="4160520" cy="54864"/>
          </a:xfrm>
          <a:prstGeom prst="rect">
            <a:avLst/>
          </a:prstGeom>
          <a:solidFill>
            <a:srgbClr val="F59E0B"/>
          </a:solidFill>
          <a:ln w="12700">
            <a:solidFill>
              <a:srgbClr val="F59E0B"/>
            </a:solidFill>
            <a:prstDash val="solid"/>
          </a:ln>
        </p:spPr>
      </p:sp>
      <p:sp>
        <p:nvSpPr>
          <p:cNvPr id="15" name="Text 13"/>
          <p:cNvSpPr/>
          <p:nvPr/>
        </p:nvSpPr>
        <p:spPr>
          <a:xfrm>
            <a:off x="384048" y="3108960"/>
            <a:ext cx="3913632"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Observability</a:t>
            </a:r>
            <a:endParaRPr lang="en-US" sz="1100" dirty="0"/>
          </a:p>
        </p:txBody>
      </p:sp>
      <p:sp>
        <p:nvSpPr>
          <p:cNvPr id="16" name="Text 14"/>
          <p:cNvSpPr/>
          <p:nvPr/>
        </p:nvSpPr>
        <p:spPr>
          <a:xfrm>
            <a:off x="384048" y="3419856"/>
            <a:ext cx="3913632" cy="1353312"/>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Langfuse: answer_generation, response_quality_gate, workspace_answer_generation, intent_classification traces — tagged with workspace_id, token counts, latency.</a:t>
            </a:r>
            <a:endParaRPr lang="en-US" sz="900" dirty="0"/>
          </a:p>
          <a:p>
            <a:pPr indent="0" marL="0">
              <a:buNone/>
            </a:pP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CloudWatch metric filters: ChatLatencyMs, RetrievalChunksReturned, MissingEvidenceCount, AppErrorCount, QualityGateRejectionCount, QualityGateExhaustedCount. 6 alarms: P95 latency, budget breaches, app errors, zero retrieval, gate rejection rate, gate exhaustion.</a:t>
            </a:r>
            <a:endParaRPr lang="en-US" sz="900" dirty="0"/>
          </a:p>
          <a:p>
            <a:pPr indent="0" marL="0">
              <a:buNone/>
            </a:pP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Full request_id traceability from HTTP through background worker. No source file contents in logs at any level.</a:t>
            </a:r>
            <a:endParaRPr lang="en-US" sz="900" dirty="0"/>
          </a:p>
        </p:txBody>
      </p:sp>
      <p:sp>
        <p:nvSpPr>
          <p:cNvPr id="17" name="Shape 15"/>
          <p:cNvSpPr/>
          <p:nvPr/>
        </p:nvSpPr>
        <p:spPr>
          <a:xfrm>
            <a:off x="4681728" y="3035808"/>
            <a:ext cx="4160520" cy="1828800"/>
          </a:xfrm>
          <a:prstGeom prst="rect">
            <a:avLst/>
          </a:prstGeom>
          <a:solidFill>
            <a:srgbClr val="13131A"/>
          </a:solidFill>
          <a:ln w="12700">
            <a:solidFill>
              <a:srgbClr val="2D2D3F"/>
            </a:solidFill>
            <a:prstDash val="solid"/>
          </a:ln>
          <a:effectLst>
            <a:outerShdw sx="100000" sy="100000" kx="0" ky="0" algn="bl" rotWithShape="0" blurRad="101600" dist="25400" dir="8100000">
              <a:srgbClr val="000000">
                <a:alpha val="18000"/>
              </a:srgbClr>
            </a:outerShdw>
          </a:effectLst>
        </p:spPr>
      </p:sp>
      <p:sp>
        <p:nvSpPr>
          <p:cNvPr id="18" name="Shape 16"/>
          <p:cNvSpPr/>
          <p:nvPr/>
        </p:nvSpPr>
        <p:spPr>
          <a:xfrm>
            <a:off x="4681728" y="3035808"/>
            <a:ext cx="4160520" cy="54864"/>
          </a:xfrm>
          <a:prstGeom prst="rect">
            <a:avLst/>
          </a:prstGeom>
          <a:solidFill>
            <a:srgbClr val="F43F5E"/>
          </a:solidFill>
          <a:ln w="12700">
            <a:solidFill>
              <a:srgbClr val="F43F5E"/>
            </a:solidFill>
            <a:prstDash val="solid"/>
          </a:ln>
        </p:spPr>
      </p:sp>
      <p:sp>
        <p:nvSpPr>
          <p:cNvPr id="19" name="Text 17"/>
          <p:cNvSpPr/>
          <p:nvPr/>
        </p:nvSpPr>
        <p:spPr>
          <a:xfrm>
            <a:off x="4809744" y="3108960"/>
            <a:ext cx="3913632" cy="420624"/>
          </a:xfrm>
          <a:prstGeom prst="rect">
            <a:avLst/>
          </a:prstGeom>
          <a:noFill/>
          <a:ln/>
        </p:spPr>
        <p:txBody>
          <a:bodyPr wrap="square" lIns="0" tIns="0" rIns="0" bIns="0" rtlCol="0" anchor="ctr"/>
          <a:lstStyle/>
          <a:p>
            <a:pPr indent="0" marL="0">
              <a:buNone/>
            </a:pPr>
            <a:r>
              <a:rPr lang="en-US" sz="1100" b="1" dirty="0">
                <a:solidFill>
                  <a:srgbClr val="F43F5E"/>
                </a:solidFill>
                <a:latin typeface="Calibri" pitchFamily="34" charset="0"/>
                <a:ea typeface="Calibri" pitchFamily="34" charset="-122"/>
                <a:cs typeface="Calibri" pitchFamily="34" charset="-120"/>
              </a:rPr>
              <a:t>Content policy — 3 tiers, enforced at ingest + retrieval + pre-LLM</a:t>
            </a:r>
            <a:endParaRPr lang="en-US" sz="1100" dirty="0"/>
          </a:p>
        </p:txBody>
      </p:sp>
      <p:sp>
        <p:nvSpPr>
          <p:cNvPr id="20" name="Shape 18"/>
          <p:cNvSpPr/>
          <p:nvPr/>
        </p:nvSpPr>
        <p:spPr>
          <a:xfrm>
            <a:off x="4809744" y="3602736"/>
            <a:ext cx="64008" cy="310896"/>
          </a:xfrm>
          <a:prstGeom prst="rect">
            <a:avLst/>
          </a:prstGeom>
          <a:solidFill>
            <a:srgbClr val="F43F5E"/>
          </a:solidFill>
          <a:ln w="12700">
            <a:solidFill>
              <a:srgbClr val="F43F5E"/>
            </a:solidFill>
            <a:prstDash val="solid"/>
          </a:ln>
        </p:spPr>
      </p:sp>
      <p:sp>
        <p:nvSpPr>
          <p:cNvPr id="21" name="Text 19"/>
          <p:cNvSpPr/>
          <p:nvPr/>
        </p:nvSpPr>
        <p:spPr>
          <a:xfrm>
            <a:off x="4956048" y="3611880"/>
            <a:ext cx="1234440" cy="182880"/>
          </a:xfrm>
          <a:prstGeom prst="rect">
            <a:avLst/>
          </a:prstGeom>
          <a:noFill/>
          <a:ln/>
        </p:spPr>
        <p:txBody>
          <a:bodyPr wrap="square" lIns="0" tIns="0" rIns="0" bIns="0" rtlCol="0" anchor="ctr"/>
          <a:lstStyle/>
          <a:p>
            <a:pPr indent="0" marL="0">
              <a:buNone/>
            </a:pPr>
            <a:r>
              <a:rPr lang="en-US" sz="950" b="1" dirty="0">
                <a:solidFill>
                  <a:srgbClr val="F43F5E"/>
                </a:solidFill>
                <a:latin typeface="Calibri" pitchFamily="34" charset="0"/>
                <a:ea typeface="Calibri" pitchFamily="34" charset="-122"/>
                <a:cs typeface="Calibri" pitchFamily="34" charset="-120"/>
              </a:rPr>
              <a:t>Always blocked</a:t>
            </a:r>
            <a:endParaRPr lang="en-US" sz="950" dirty="0"/>
          </a:p>
        </p:txBody>
      </p:sp>
      <p:sp>
        <p:nvSpPr>
          <p:cNvPr id="22" name="Text 20"/>
          <p:cNvSpPr/>
          <p:nvPr/>
        </p:nvSpPr>
        <p:spPr>
          <a:xfrm>
            <a:off x="4956048" y="3785616"/>
            <a:ext cx="374904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.env, secrets, keys, credentials — regardless of config.</a:t>
            </a:r>
            <a:endParaRPr lang="en-US" sz="900" dirty="0"/>
          </a:p>
        </p:txBody>
      </p:sp>
      <p:sp>
        <p:nvSpPr>
          <p:cNvPr id="23" name="Shape 21"/>
          <p:cNvSpPr/>
          <p:nvPr/>
        </p:nvSpPr>
        <p:spPr>
          <a:xfrm>
            <a:off x="4809744" y="4005072"/>
            <a:ext cx="64008" cy="310896"/>
          </a:xfrm>
          <a:prstGeom prst="rect">
            <a:avLst/>
          </a:prstGeom>
          <a:solidFill>
            <a:srgbClr val="F59E0B"/>
          </a:solidFill>
          <a:ln w="12700">
            <a:solidFill>
              <a:srgbClr val="F59E0B"/>
            </a:solidFill>
            <a:prstDash val="solid"/>
          </a:ln>
        </p:spPr>
      </p:sp>
      <p:sp>
        <p:nvSpPr>
          <p:cNvPr id="24" name="Text 22"/>
          <p:cNvSpPr/>
          <p:nvPr/>
        </p:nvSpPr>
        <p:spPr>
          <a:xfrm>
            <a:off x="4956048" y="4014216"/>
            <a:ext cx="1234440" cy="182880"/>
          </a:xfrm>
          <a:prstGeom prst="rect">
            <a:avLst/>
          </a:prstGeom>
          <a:noFill/>
          <a:ln/>
        </p:spPr>
        <p:txBody>
          <a:bodyPr wrap="square" lIns="0" tIns="0" rIns="0" bIns="0"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Opt-in (off)</a:t>
            </a:r>
            <a:endParaRPr lang="en-US" sz="950" dirty="0"/>
          </a:p>
        </p:txBody>
      </p:sp>
      <p:sp>
        <p:nvSpPr>
          <p:cNvPr id="25" name="Text 23"/>
          <p:cNvSpPr/>
          <p:nvPr/>
        </p:nvSpPr>
        <p:spPr>
          <a:xfrm>
            <a:off x="4956048" y="4187952"/>
            <a:ext cx="374904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Code snippets (scoped, never full files) — owner enables per twin.</a:t>
            </a:r>
            <a:endParaRPr lang="en-US" sz="900" dirty="0"/>
          </a:p>
        </p:txBody>
      </p:sp>
      <p:sp>
        <p:nvSpPr>
          <p:cNvPr id="26" name="Shape 24"/>
          <p:cNvSpPr/>
          <p:nvPr/>
        </p:nvSpPr>
        <p:spPr>
          <a:xfrm>
            <a:off x="4809744" y="4407408"/>
            <a:ext cx="64008" cy="310896"/>
          </a:xfrm>
          <a:prstGeom prst="rect">
            <a:avLst/>
          </a:prstGeom>
          <a:solidFill>
            <a:srgbClr val="14B8A6"/>
          </a:solidFill>
          <a:ln w="12700">
            <a:solidFill>
              <a:srgbClr val="14B8A6"/>
            </a:solidFill>
            <a:prstDash val="solid"/>
          </a:ln>
        </p:spPr>
      </p:sp>
      <p:sp>
        <p:nvSpPr>
          <p:cNvPr id="27" name="Text 25"/>
          <p:cNvSpPr/>
          <p:nvPr/>
        </p:nvSpPr>
        <p:spPr>
          <a:xfrm>
            <a:off x="4956048" y="4416552"/>
            <a:ext cx="1234440" cy="182880"/>
          </a:xfrm>
          <a:prstGeom prst="rect">
            <a:avLst/>
          </a:prstGeom>
          <a:noFill/>
          <a:ln/>
        </p:spPr>
        <p:txBody>
          <a:bodyPr wrap="square" lIns="0" tIns="0" rIns="0" bIns="0" rtlCol="0" anchor="ctr"/>
          <a:lstStyle/>
          <a:p>
            <a:pPr indent="0" marL="0">
              <a:buNone/>
            </a:pPr>
            <a:r>
              <a:rPr lang="en-US" sz="950" b="1" dirty="0">
                <a:solidFill>
                  <a:srgbClr val="14B8A6"/>
                </a:solidFill>
                <a:latin typeface="Calibri" pitchFamily="34" charset="0"/>
                <a:ea typeface="Calibri" pitchFamily="34" charset="-122"/>
                <a:cs typeface="Calibri" pitchFamily="34" charset="-120"/>
              </a:rPr>
              <a:t>Always available</a:t>
            </a:r>
            <a:endParaRPr lang="en-US" sz="950" dirty="0"/>
          </a:p>
        </p:txBody>
      </p:sp>
      <p:sp>
        <p:nvSpPr>
          <p:cNvPr id="28" name="Text 26"/>
          <p:cNvSpPr/>
          <p:nvPr/>
        </p:nvSpPr>
        <p:spPr>
          <a:xfrm>
            <a:off x="4956048" y="4590288"/>
            <a:ext cx="374904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Docs, summaries, structure, architecture.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45720" cy="5143500"/>
          </a:xfrm>
          <a:prstGeom prst="rect">
            <a:avLst/>
          </a:prstGeom>
          <a:solidFill>
            <a:srgbClr val="6366F1"/>
          </a:solidFill>
          <a:ln w="12700">
            <a:solidFill>
              <a:srgbClr val="6366F1"/>
            </a:solidFill>
            <a:prstDash val="solid"/>
          </a:ln>
        </p:spPr>
      </p:sp>
      <p:sp>
        <p:nvSpPr>
          <p:cNvPr id="3" name="Shape 1"/>
          <p:cNvSpPr/>
          <p:nvPr/>
        </p:nvSpPr>
        <p:spPr>
          <a:xfrm>
            <a:off x="5943600" y="365760"/>
            <a:ext cx="3108960" cy="3108960"/>
          </a:xfrm>
          <a:prstGeom prst="ellipse">
            <a:avLst/>
          </a:prstGeom>
          <a:solidFill>
            <a:srgbClr val="6366F1">
              <a:alpha val="11000"/>
            </a:srgbClr>
          </a:solidFill>
          <a:ln w="12700">
            <a:solidFill>
              <a:srgbClr val="6366F1"/>
            </a:solidFill>
            <a:prstDash val="solid"/>
          </a:ln>
        </p:spPr>
      </p:sp>
      <p:sp>
        <p:nvSpPr>
          <p:cNvPr id="4" name="Shape 2"/>
          <p:cNvSpPr/>
          <p:nvPr/>
        </p:nvSpPr>
        <p:spPr>
          <a:xfrm>
            <a:off x="6675120" y="1005840"/>
            <a:ext cx="2011680" cy="2011680"/>
          </a:xfrm>
          <a:prstGeom prst="ellipse">
            <a:avLst/>
          </a:prstGeom>
          <a:solidFill>
            <a:srgbClr val="14B8A6">
              <a:alpha val="12000"/>
            </a:srgbClr>
          </a:solidFill>
          <a:ln w="12700">
            <a:solidFill>
              <a:srgbClr val="14B8A6"/>
            </a:solidFill>
            <a:prstDash val="solid"/>
          </a:ln>
        </p:spPr>
      </p:sp>
      <p:sp>
        <p:nvSpPr>
          <p:cNvPr id="5" name="Text 3"/>
          <p:cNvSpPr/>
          <p:nvPr/>
        </p:nvSpPr>
        <p:spPr>
          <a:xfrm>
            <a:off x="347472" y="457200"/>
            <a:ext cx="4572000" cy="237744"/>
          </a:xfrm>
          <a:prstGeom prst="rect">
            <a:avLst/>
          </a:prstGeom>
          <a:noFill/>
          <a:ln/>
        </p:spPr>
        <p:txBody>
          <a:bodyPr wrap="square" lIns="0" tIns="0" rIns="0" bIns="0" rtlCol="0" anchor="ctr"/>
          <a:lstStyle/>
          <a:p>
            <a:pPr indent="0" marL="0">
              <a:buNone/>
            </a:pPr>
            <a:r>
              <a:rPr lang="en-US" sz="900" b="1" spc="500" kern="0" dirty="0">
                <a:solidFill>
                  <a:srgbClr val="14B8A6"/>
                </a:solidFill>
              </a:rPr>
              <a:t>TAKEAWAY</a:t>
            </a:r>
            <a:endParaRPr lang="en-US" sz="900" dirty="0"/>
          </a:p>
        </p:txBody>
      </p:sp>
      <p:sp>
        <p:nvSpPr>
          <p:cNvPr id="6" name="Text 4"/>
          <p:cNvSpPr/>
          <p:nvPr/>
        </p:nvSpPr>
        <p:spPr>
          <a:xfrm>
            <a:off x="347472" y="749808"/>
            <a:ext cx="5394960" cy="1234440"/>
          </a:xfrm>
          <a:prstGeom prst="rect">
            <a:avLst/>
          </a:prstGeom>
          <a:noFill/>
          <a:ln/>
        </p:spPr>
        <p:txBody>
          <a:bodyPr wrap="square" lIns="0" tIns="0" rIns="0" bIns="0" rtlCol="0" anchor="ctr"/>
          <a:lstStyle/>
          <a:p>
            <a:pPr algn="l" indent="0" marL="0">
              <a:buNone/>
            </a:pPr>
            <a:r>
              <a:rPr lang="en-US" sz="3600" b="1" dirty="0">
                <a:solidFill>
                  <a:srgbClr val="F1F5F9"/>
                </a:solidFill>
                <a:latin typeface="Calibri" pitchFamily="34" charset="0"/>
                <a:ea typeface="Calibri" pitchFamily="34" charset="-122"/>
                <a:cs typeface="Calibri" pitchFamily="34" charset="-120"/>
              </a:rPr>
              <a:t>Grounded answers</a:t>
            </a:r>
            <a:endParaRPr lang="en-US" sz="3600" dirty="0"/>
          </a:p>
          <a:p>
            <a:pPr algn="l" indent="0" marL="0">
              <a:buNone/>
            </a:pPr>
            <a:r>
              <a:rPr lang="en-US" sz="3600" b="1" dirty="0">
                <a:solidFill>
                  <a:srgbClr val="F1F5F9"/>
                </a:solidFill>
                <a:latin typeface="Calibri" pitchFamily="34" charset="0"/>
                <a:ea typeface="Calibri" pitchFamily="34" charset="-122"/>
                <a:cs typeface="Calibri" pitchFamily="34" charset="-120"/>
              </a:rPr>
              <a:t>from your real work.</a:t>
            </a:r>
            <a:endParaRPr lang="en-US" sz="3600" dirty="0"/>
          </a:p>
        </p:txBody>
      </p:sp>
      <p:sp>
        <p:nvSpPr>
          <p:cNvPr id="7" name="Text 5"/>
          <p:cNvSpPr/>
          <p:nvPr/>
        </p:nvSpPr>
        <p:spPr>
          <a:xfrm>
            <a:off x="347472" y="2057400"/>
            <a:ext cx="5212080" cy="841248"/>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A multi-tenant RAG platform with hybrid retrieval, a synchronous LLM-as-judge quality gate, full IaC-managed deployment on AWS, and a content policy that separates what owners choose to share from what visitors can see. Built to be trusted — by the people asking questions and the people whose knowledge is being indexed.</a:t>
            </a:r>
            <a:endParaRPr lang="en-US" sz="1100" dirty="0"/>
          </a:p>
        </p:txBody>
      </p:sp>
      <p:sp>
        <p:nvSpPr>
          <p:cNvPr id="8" name="Shape 6"/>
          <p:cNvSpPr/>
          <p:nvPr/>
        </p:nvSpPr>
        <p:spPr>
          <a:xfrm>
            <a:off x="347472" y="2971800"/>
            <a:ext cx="5212080" cy="530352"/>
          </a:xfrm>
          <a:prstGeom prst="rect">
            <a:avLst/>
          </a:prstGeom>
          <a:solidFill>
            <a:srgbClr val="13131A"/>
          </a:solidFill>
          <a:ln w="12700">
            <a:solidFill>
              <a:srgbClr val="2D2D3F"/>
            </a:solidFill>
            <a:prstDash val="solid"/>
          </a:ln>
        </p:spPr>
      </p:sp>
      <p:sp>
        <p:nvSpPr>
          <p:cNvPr id="9" name="Shape 7"/>
          <p:cNvSpPr/>
          <p:nvPr/>
        </p:nvSpPr>
        <p:spPr>
          <a:xfrm>
            <a:off x="347472" y="2971800"/>
            <a:ext cx="45720" cy="530352"/>
          </a:xfrm>
          <a:prstGeom prst="rect">
            <a:avLst/>
          </a:prstGeom>
          <a:solidFill>
            <a:srgbClr val="818CF8"/>
          </a:solidFill>
          <a:ln w="12700">
            <a:solidFill>
              <a:srgbClr val="818CF8"/>
            </a:solidFill>
            <a:prstDash val="solid"/>
          </a:ln>
        </p:spPr>
      </p:sp>
      <p:sp>
        <p:nvSpPr>
          <p:cNvPr id="10" name="Text 8"/>
          <p:cNvSpPr/>
          <p:nvPr/>
        </p:nvSpPr>
        <p:spPr>
          <a:xfrm>
            <a:off x="475488" y="3017520"/>
            <a:ext cx="4974336" cy="182880"/>
          </a:xfrm>
          <a:prstGeom prst="rect">
            <a:avLst/>
          </a:prstGeom>
          <a:noFill/>
          <a:ln/>
        </p:spPr>
        <p:txBody>
          <a:bodyPr wrap="square" lIns="0" tIns="0" rIns="0" bIns="0" rtlCol="0" anchor="ctr"/>
          <a:lstStyle/>
          <a:p>
            <a:pPr indent="0" marL="0">
              <a:buNone/>
            </a:pPr>
            <a:r>
              <a:rPr lang="en-US" sz="1000" b="1" dirty="0">
                <a:solidFill>
                  <a:srgbClr val="818CF8"/>
                </a:solidFill>
                <a:latin typeface="Calibri" pitchFamily="34" charset="0"/>
                <a:ea typeface="Calibri" pitchFamily="34" charset="-122"/>
                <a:cs typeface="Calibri" pitchFamily="34" charset="-120"/>
              </a:rPr>
              <a:t>As an owner</a:t>
            </a:r>
            <a:endParaRPr lang="en-US" sz="1000" dirty="0"/>
          </a:p>
        </p:txBody>
      </p:sp>
      <p:sp>
        <p:nvSpPr>
          <p:cNvPr id="11" name="Text 9"/>
          <p:cNvSpPr/>
          <p:nvPr/>
        </p:nvSpPr>
        <p:spPr>
          <a:xfrm>
            <a:off x="475488" y="3227832"/>
            <a:ext cx="4974336" cy="219456"/>
          </a:xfrm>
          <a:prstGeom prst="rect">
            <a:avLst/>
          </a:prstGeom>
          <a:noFill/>
          <a:ln/>
        </p:spPr>
        <p:txBody>
          <a:bodyPr wrap="square" lIns="0" tIns="0" rIns="0" bIns="0" rtlCol="0" anchor="ctr"/>
          <a:lstStyle/>
          <a:p>
            <a:pPr indent="0" marL="0">
              <a:buNone/>
            </a:pPr>
            <a:r>
              <a:rPr lang="en-US" sz="880" dirty="0">
                <a:solidFill>
                  <a:srgbClr val="94A3B8"/>
                </a:solidFill>
                <a:latin typeface="Calibri" pitchFamily="34" charset="0"/>
                <a:ea typeface="Calibri" pitchFamily="34" charset="-122"/>
                <a:cs typeface="Calibri" pitchFamily="34" charset="-120"/>
              </a:rPr>
              <a:t>Attach a source, watch it ingest  ·  View the auto-generated Memory Brief  ·  Generate a public share link</a:t>
            </a:r>
            <a:endParaRPr lang="en-US" sz="880" dirty="0"/>
          </a:p>
        </p:txBody>
      </p:sp>
      <p:sp>
        <p:nvSpPr>
          <p:cNvPr id="12" name="Shape 10"/>
          <p:cNvSpPr/>
          <p:nvPr/>
        </p:nvSpPr>
        <p:spPr>
          <a:xfrm>
            <a:off x="347472" y="3575304"/>
            <a:ext cx="5212080" cy="530352"/>
          </a:xfrm>
          <a:prstGeom prst="rect">
            <a:avLst/>
          </a:prstGeom>
          <a:solidFill>
            <a:srgbClr val="13131A"/>
          </a:solidFill>
          <a:ln w="12700">
            <a:solidFill>
              <a:srgbClr val="2D2D3F"/>
            </a:solidFill>
            <a:prstDash val="solid"/>
          </a:ln>
        </p:spPr>
      </p:sp>
      <p:sp>
        <p:nvSpPr>
          <p:cNvPr id="13" name="Shape 11"/>
          <p:cNvSpPr/>
          <p:nvPr/>
        </p:nvSpPr>
        <p:spPr>
          <a:xfrm>
            <a:off x="347472" y="3575304"/>
            <a:ext cx="45720" cy="530352"/>
          </a:xfrm>
          <a:prstGeom prst="rect">
            <a:avLst/>
          </a:prstGeom>
          <a:solidFill>
            <a:srgbClr val="14B8A6"/>
          </a:solidFill>
          <a:ln w="12700">
            <a:solidFill>
              <a:srgbClr val="14B8A6"/>
            </a:solidFill>
            <a:prstDash val="solid"/>
          </a:ln>
        </p:spPr>
      </p:sp>
      <p:sp>
        <p:nvSpPr>
          <p:cNvPr id="14" name="Text 12"/>
          <p:cNvSpPr/>
          <p:nvPr/>
        </p:nvSpPr>
        <p:spPr>
          <a:xfrm>
            <a:off x="475488" y="3621024"/>
            <a:ext cx="4974336" cy="182880"/>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As a visitor (public URL — no login)</a:t>
            </a:r>
            <a:endParaRPr lang="en-US" sz="1000" dirty="0"/>
          </a:p>
        </p:txBody>
      </p:sp>
      <p:sp>
        <p:nvSpPr>
          <p:cNvPr id="15" name="Text 13"/>
          <p:cNvSpPr/>
          <p:nvPr/>
        </p:nvSpPr>
        <p:spPr>
          <a:xfrm>
            <a:off x="475488" y="3831336"/>
            <a:ext cx="4974336" cy="219456"/>
          </a:xfrm>
          <a:prstGeom prst="rect">
            <a:avLst/>
          </a:prstGeom>
          <a:noFill/>
          <a:ln/>
        </p:spPr>
        <p:txBody>
          <a:bodyPr wrap="square" lIns="0" tIns="0" rIns="0" bIns="0" rtlCol="0" anchor="ctr"/>
          <a:lstStyle/>
          <a:p>
            <a:pPr indent="0" marL="0">
              <a:buNone/>
            </a:pPr>
            <a:r>
              <a:rPr lang="en-US" sz="880" dirty="0">
                <a:solidFill>
                  <a:srgbClr val="94A3B8"/>
                </a:solidFill>
                <a:latin typeface="Calibri" pitchFamily="34" charset="0"/>
                <a:ea typeface="Calibri" pitchFamily="34" charset="-122"/>
                <a:cs typeface="Calibri" pitchFamily="34" charset="-120"/>
              </a:rPr>
              <a:t>/t/:slug — grounded answers, source attribution, nothing outside the index  ·  /w/:slug — workspace-level routing across twins</a:t>
            </a:r>
            <a:endParaRPr lang="en-US" sz="880" dirty="0"/>
          </a:p>
        </p:txBody>
      </p:sp>
      <p:sp>
        <p:nvSpPr>
          <p:cNvPr id="16" name="Shape 14"/>
          <p:cNvSpPr/>
          <p:nvPr/>
        </p:nvSpPr>
        <p:spPr>
          <a:xfrm>
            <a:off x="347472" y="4178808"/>
            <a:ext cx="5212080" cy="530352"/>
          </a:xfrm>
          <a:prstGeom prst="rect">
            <a:avLst/>
          </a:prstGeom>
          <a:solidFill>
            <a:srgbClr val="13131A"/>
          </a:solidFill>
          <a:ln w="12700">
            <a:solidFill>
              <a:srgbClr val="2D2D3F"/>
            </a:solidFill>
            <a:prstDash val="solid"/>
          </a:ln>
        </p:spPr>
      </p:sp>
      <p:sp>
        <p:nvSpPr>
          <p:cNvPr id="17" name="Shape 15"/>
          <p:cNvSpPr/>
          <p:nvPr/>
        </p:nvSpPr>
        <p:spPr>
          <a:xfrm>
            <a:off x="347472" y="4178808"/>
            <a:ext cx="45720" cy="530352"/>
          </a:xfrm>
          <a:prstGeom prst="rect">
            <a:avLst/>
          </a:prstGeom>
          <a:solidFill>
            <a:srgbClr val="F59E0B"/>
          </a:solidFill>
          <a:ln w="12700">
            <a:solidFill>
              <a:srgbClr val="F59E0B"/>
            </a:solidFill>
            <a:prstDash val="solid"/>
          </a:ln>
        </p:spPr>
      </p:sp>
      <p:sp>
        <p:nvSpPr>
          <p:cNvPr id="18" name="Text 16"/>
          <p:cNvSpPr/>
          <p:nvPr/>
        </p:nvSpPr>
        <p:spPr>
          <a:xfrm>
            <a:off x="475488" y="4224528"/>
            <a:ext cx="4974336" cy="18288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As an evaluator</a:t>
            </a:r>
            <a:endParaRPr lang="en-US" sz="1000" dirty="0"/>
          </a:p>
        </p:txBody>
      </p:sp>
      <p:sp>
        <p:nvSpPr>
          <p:cNvPr id="19" name="Text 17"/>
          <p:cNvSpPr/>
          <p:nvPr/>
        </p:nvSpPr>
        <p:spPr>
          <a:xfrm>
            <a:off x="475488" y="4434840"/>
            <a:ext cx="4974336" cy="219456"/>
          </a:xfrm>
          <a:prstGeom prst="rect">
            <a:avLst/>
          </a:prstGeom>
          <a:noFill/>
          <a:ln/>
        </p:spPr>
        <p:txBody>
          <a:bodyPr wrap="square" lIns="0" tIns="0" rIns="0" bIns="0" rtlCol="0" anchor="ctr"/>
          <a:lstStyle/>
          <a:p>
            <a:pPr indent="0" marL="0">
              <a:buNone/>
            </a:pPr>
            <a:r>
              <a:rPr lang="en-US" sz="880" dirty="0">
                <a:solidFill>
                  <a:srgbClr val="94A3B8"/>
                </a:solidFill>
                <a:latin typeface="Calibri" pitchFamily="34" charset="0"/>
                <a:ea typeface="Calibri" pitchFamily="34" charset="-122"/>
                <a:cs typeface="Calibri" pitchFamily="34" charset="-120"/>
              </a:rPr>
              <a:t>Every answer has a Langfuse trace  ·  Every answer was verified + gated before persist  ·  Gate rejections + latency live in CloudWatch dashboard</a:t>
            </a:r>
            <a:endParaRPr lang="en-US" sz="880" dirty="0"/>
          </a:p>
        </p:txBody>
      </p:sp>
      <p:sp>
        <p:nvSpPr>
          <p:cNvPr id="20" name="Text 18"/>
          <p:cNvSpPr/>
          <p:nvPr/>
        </p:nvSpPr>
        <p:spPr>
          <a:xfrm>
            <a:off x="347472" y="4809744"/>
            <a:ext cx="5029200" cy="201168"/>
          </a:xfrm>
          <a:prstGeom prst="rect">
            <a:avLst/>
          </a:prstGeom>
          <a:noFill/>
          <a:ln/>
        </p:spPr>
        <p:txBody>
          <a:bodyPr wrap="square" lIns="0" tIns="0" rIns="0" bIns="0" rtlCol="0" anchor="ctr"/>
          <a:lstStyle/>
          <a:p>
            <a:pPr indent="0" marL="0">
              <a:buNone/>
            </a:pPr>
            <a:r>
              <a:rPr lang="en-US" sz="850" dirty="0">
                <a:solidFill>
                  <a:srgbClr val="94A3B8"/>
                </a:solidFill>
              </a:rPr>
              <a:t>omovoiye@gmail.com  ·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docbase</dc:title>
  <dc:subject>PptxGenJS Presentation</dc:subject>
  <dc:creator>PptxGenJS</dc:creator>
  <cp:lastModifiedBy>PptxGenJS</cp:lastModifiedBy>
  <cp:revision>1</cp:revision>
  <dcterms:created xsi:type="dcterms:W3CDTF">2026-04-26T19:27:48Z</dcterms:created>
  <dcterms:modified xsi:type="dcterms:W3CDTF">2026-04-26T19:27:48Z</dcterms:modified>
</cp:coreProperties>
</file>
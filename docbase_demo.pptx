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274320"/>
            <a:ext cx="3474720" cy="3474720"/>
          </a:xfrm>
          <a:prstGeom prst="ellipse">
            <a:avLst/>
          </a:prstGeom>
          <a:solidFill>
            <a:srgbClr val="6366F1">
              <a:alpha val="12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914400"/>
            <a:ext cx="2286000" cy="2286000"/>
          </a:xfrm>
          <a:prstGeom prst="ellipse">
            <a:avLst/>
          </a:prstGeom>
          <a:solidFill>
            <a:srgbClr val="14B8A6">
              <a:alpha val="1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502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818CF8"/>
                </a:solidFill>
              </a:rPr>
              <a:t>DEMO  • 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47472" y="86868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AI twins.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knowledge.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raw code leaks.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347472" y="32918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answers from your real work.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47472" y="37947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Visitors chat — answers stay tied to what you indexed, not the open internet.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" y="4462272"/>
            <a:ext cx="1965960" cy="347472"/>
          </a:xfrm>
          <a:prstGeom prst="rect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446227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18CF8"/>
                </a:solidFill>
              </a:rPr>
              <a:t>Multi-tenant twins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68880" y="4462272"/>
            <a:ext cx="1965960" cy="347472"/>
          </a:xfrm>
          <a:prstGeom prst="rect">
            <a:avLst/>
          </a:prstGeom>
          <a:solidFill>
            <a:srgbClr val="14B8A6">
              <a:alpha val="15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446227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</a:rPr>
              <a:t>pgvector + RAG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90288" y="4462272"/>
            <a:ext cx="19659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0288" y="446227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</a:rPr>
              <a:t>LLM-as-judge gate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6366F1"/>
                </a:solidFill>
              </a:rPr>
              <a:t>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lives everywhere.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need to stay grounded.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47472" y="1691640"/>
            <a:ext cx="2697480" cy="2651760"/>
          </a:xfrm>
          <a:prstGeom prst="rect">
            <a:avLst/>
          </a:prstGeom>
          <a:solidFill>
            <a:srgbClr val="13131A"/>
          </a:solidFill>
          <a:ln w="12700">
            <a:solidFill>
              <a:srgbClr val="2D2D3F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1691640"/>
            <a:ext cx="45720" cy="26517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874520"/>
            <a:ext cx="2450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Scattered, heterogeneous sources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84632" y="2487168"/>
            <a:ext cx="2450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folders, PDFs, resumes, product docs — knowledge lives in many places with no unified conversational surface.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1691640"/>
            <a:ext cx="2697480" cy="2651760"/>
          </a:xfrm>
          <a:prstGeom prst="rect">
            <a:avLst/>
          </a:prstGeom>
          <a:solidFill>
            <a:srgbClr val="13131A"/>
          </a:solidFill>
          <a:ln w="12700">
            <a:solidFill>
              <a:srgbClr val="2D2D3F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691640"/>
            <a:ext cx="45720" cy="26517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874520"/>
            <a:ext cx="2450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 that leak or hallucinate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337560" y="2487168"/>
            <a:ext cx="2450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AI chatbots leak filenames, invented facts, and raw secrets. Users can't trust the answers or trace them to sources.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53328" y="1691640"/>
            <a:ext cx="2697480" cy="2651760"/>
          </a:xfrm>
          <a:prstGeom prst="rect">
            <a:avLst/>
          </a:prstGeom>
          <a:solidFill>
            <a:srgbClr val="13131A"/>
          </a:solidFill>
          <a:ln w="12700">
            <a:solidFill>
              <a:srgbClr val="2D2D3F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53328" y="1691640"/>
            <a:ext cx="45720" cy="26517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0488" y="1874520"/>
            <a:ext cx="2450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safe sharing model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90488" y="2487168"/>
            <a:ext cx="2450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want to share knowledge publicly without exposing raw code, credentials, or internal implementation details.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45720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6366F1"/>
                </a:solidFill>
              </a:rPr>
              <a:t>The gap: a grounded, on-policy, traceable conversational layer — over your own knowledge.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14B8A6"/>
                </a:solidFill>
              </a:rPr>
              <a:t>THE SOLUTION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docbase — grounded AI twins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approved knowledge.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Core domain model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29968"/>
            <a:ext cx="3977640" cy="4572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6654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26771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owner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2578608"/>
            <a:ext cx="3776472" cy="4572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6151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49808" y="28163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twins; share surfaces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59536" y="3127248"/>
            <a:ext cx="3575304" cy="4572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31638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0976" y="336499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agent with persona + policy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60704" y="3675888"/>
            <a:ext cx="3374136" cy="4572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52144" y="3712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52144" y="391363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Drive, PDF, URL, Markdown, notes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60704" y="4224528"/>
            <a:ext cx="3374136" cy="4572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52144" y="42611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 (pgvector)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52144" y="446227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Indexed, policy-filtered knowledge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16916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18CF8"/>
                </a:solidFill>
              </a:rPr>
              <a:t>What owners expose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2029968"/>
            <a:ext cx="3840480" cy="749808"/>
          </a:xfrm>
          <a:prstGeom prst="rect">
            <a:avLst/>
          </a:prstGeom>
          <a:solidFill>
            <a:srgbClr val="13131A"/>
          </a:solidFill>
          <a:ln w="12700">
            <a:solidFill>
              <a:srgbClr val="2D2D3F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2029968"/>
            <a:ext cx="45720" cy="7498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209397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/t/:slug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83480" y="229514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twin page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48716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chat against one twin's indexed knowledge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46320" y="2898648"/>
            <a:ext cx="3840480" cy="749808"/>
          </a:xfrm>
          <a:prstGeom prst="rect">
            <a:avLst/>
          </a:prstGeom>
          <a:solidFill>
            <a:srgbClr val="13131A"/>
          </a:solidFill>
          <a:ln w="12700">
            <a:solidFill>
              <a:srgbClr val="2D2D3F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846320" y="2898648"/>
            <a:ext cx="45720" cy="7498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83480" y="296265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/w/:slug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983480" y="316382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chat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33558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or aggregate across all twins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46320" y="3767328"/>
            <a:ext cx="3840480" cy="749808"/>
          </a:xfrm>
          <a:prstGeom prst="rect">
            <a:avLst/>
          </a:prstGeom>
          <a:solidFill>
            <a:srgbClr val="13131A"/>
          </a:solidFill>
          <a:ln w="12700">
            <a:solidFill>
              <a:srgbClr val="2D2D3F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46320" y="3767328"/>
            <a:ext cx="45720" cy="7498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83480" y="383133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983480" y="403250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widget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83480" y="422452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chat panel in any external page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</a:rPr>
              <a:t>Public pages: calm, minimal — no technical internals visible to visitors. The conversation is the hero.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6366F1"/>
                </a:solidFill>
              </a:rPr>
              <a:t>ARCHITECTURE &amp;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Branching orchestration — not a single LLM call.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47472" y="1207008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1207008"/>
            <a:ext cx="45720" cy="7498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2801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Langfuse trace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" y="155448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when keys configured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377440" y="1956816"/>
            <a:ext cx="0" cy="118872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347472" y="2075688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7472" y="2075688"/>
            <a:ext cx="45720" cy="74980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" y="214884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Intent / query analysis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" y="24231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boosts + routing hints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377440" y="2825496"/>
            <a:ext cx="0" cy="118872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347472" y="2944368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7472" y="2944368"/>
            <a:ext cx="45720" cy="74980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301752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Retrieve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" y="32918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 packet | workspace aggregate | routed twin (pgvector + lexical)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377440" y="3694176"/>
            <a:ext cx="0" cy="118872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47472" y="3813048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7472" y="3813048"/>
            <a:ext cx="45720" cy="7498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38862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Generate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" y="41605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generate_answer / generate_workspace_answer — persona + Memory Brief + chunks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46320" y="1207008"/>
            <a:ext cx="3931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1207008"/>
            <a:ext cx="45720" cy="74980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74336" y="12801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Verify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74336" y="155448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references, workspace section discipline, bounded-negative phrasing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812280" y="1956816"/>
            <a:ext cx="0" cy="118872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4846320" y="2075688"/>
            <a:ext cx="3931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2075688"/>
            <a:ext cx="45720" cy="7498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74336" y="21488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Active quality gate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74336" y="242316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LLM judge (Pydantic ResponseQualityGate) → reject? → bounded regen + re-verify before persist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812280" y="2825496"/>
            <a:ext cx="0" cy="118872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4846320" y="2944368"/>
            <a:ext cx="3931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846320" y="2944368"/>
            <a:ext cx="45720" cy="7498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74336" y="30175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Persist + respond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74336" y="329184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row + chunk IDs for audit; latency budget logged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57200" y="46451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6366F1"/>
                </a:solidFill>
              </a:rPr>
              <a:t>Retrieval modes x verifier retries x gate loops — correctness over raw fluency.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F59E0B"/>
                </a:solidFill>
              </a:rPr>
              <a:t>PROMPTS, QUALITY &amp; EVALUATION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interlocking quality layers.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47472" y="1188720"/>
            <a:ext cx="2011680" cy="3639312"/>
          </a:xfrm>
          <a:prstGeom prst="rect">
            <a:avLst/>
          </a:prstGeom>
          <a:solidFill>
            <a:srgbClr val="13131A"/>
          </a:solidFill>
          <a:ln w="12700">
            <a:solidFill>
              <a:srgbClr val="2D2D3F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1188720"/>
            <a:ext cx="2011680" cy="5486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2618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Evidence verifier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38912" y="18105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Runs on every non-deterministic LLM path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38912" y="2478024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Enforces grounded file/symbol references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8912" y="3145536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Workspace answers skip per-project ## headers on conversational turns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8912" y="381304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Verifier-requested regeneration loops before user sees anything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23744" y="1188720"/>
            <a:ext cx="2011680" cy="3639312"/>
          </a:xfrm>
          <a:prstGeom prst="rect">
            <a:avLst/>
          </a:prstGeom>
          <a:solidFill>
            <a:srgbClr val="13131A"/>
          </a:solidFill>
          <a:ln w="12700">
            <a:solidFill>
              <a:srgbClr val="2D2D3F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23744" y="1188720"/>
            <a:ext cx="2011680" cy="5486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15184" y="12618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Active quality gate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615184" y="18105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CHAT_QUALITY_GATE_ENABLED (default on in config)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615184" y="2478024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Synchronous LLM judge — JSON validated by ResponseQualityGate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615184" y="3145536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Pydantic (extra='forbid'): is_acceptable: bool, feedback: str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615184" y="381304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Reject → bounded generate_* + re-verify BEFORE persist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00016" y="1188720"/>
            <a:ext cx="2011680" cy="3639312"/>
          </a:xfrm>
          <a:prstGeom prst="rect">
            <a:avLst/>
          </a:prstGeom>
          <a:solidFill>
            <a:srgbClr val="13131A"/>
          </a:solidFill>
          <a:ln w="12700">
            <a:solidFill>
              <a:srgbClr val="2D2D3F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0016" y="1188720"/>
            <a:ext cx="20116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91456" y="12618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Passive judge + Langfuse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791456" y="18105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When gate is off: evaluate_response_async runs after persist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91456" y="2478024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Multi-axis dimensional scores pushed to Langfuse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91456" y="3145536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Useful for dashboards and experiment baselines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91456" y="381304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answer_generation, response_quality_gate traces with workspace_id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876288" y="1188720"/>
            <a:ext cx="2011680" cy="3639312"/>
          </a:xfrm>
          <a:prstGeom prst="rect">
            <a:avLst/>
          </a:prstGeom>
          <a:solidFill>
            <a:srgbClr val="13131A"/>
          </a:solidFill>
          <a:ln w="12700">
            <a:solidFill>
              <a:srgbClr val="2D2D3F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76288" y="1188720"/>
            <a:ext cx="20116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67728" y="12618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Prompt contracts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67728" y="18105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Twin: owner notes + Memory Brief + chunks + conversation memory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67728" y="2478024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Workspace: multi-project blocks; no internal routing dumps to visitors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67728" y="3145536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Sanitised injection — all ingested content treated as untrusted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67728" y="381304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Regeneration hints injected on verifier retry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14B8A6"/>
                </a:solidFill>
              </a:rPr>
              <a:t>ENGINEERING PRACTICES &amp; PRODUCTION READINESS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Boring-operable stack. Deliberate trade-offs documented.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47472" y="12070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Tech stack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508760"/>
            <a:ext cx="4160520" cy="411480"/>
          </a:xfrm>
          <a:prstGeom prst="rect">
            <a:avLst/>
          </a:prstGeom>
          <a:solidFill>
            <a:srgbClr val="F9F9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002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83080" y="16002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3.11+, FastAPI, Pydantic v2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" y="1965960"/>
            <a:ext cx="41605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0574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83080" y="20574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18, TypeScript, Vite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7472" y="2423160"/>
            <a:ext cx="4160520" cy="411480"/>
          </a:xfrm>
          <a:prstGeom prst="rect">
            <a:avLst/>
          </a:prstGeom>
          <a:solidFill>
            <a:srgbClr val="F9F9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146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783080" y="25146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 (hybrid retrieval)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7472" y="2880360"/>
            <a:ext cx="41605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/ Cache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83080" y="29718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+ ARQ (idempotent async jobs)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7472" y="3337560"/>
            <a:ext cx="4160520" cy="411480"/>
          </a:xfrm>
          <a:prstGeom prst="rect">
            <a:avLst/>
          </a:prstGeom>
          <a:solidFill>
            <a:srgbClr val="F9F9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4290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783080" y="34290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OpenAI-compatible (OpenRouter / OpenAI)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472" y="3794760"/>
            <a:ext cx="41605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8862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783080" y="38862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httpOnly cookies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7472" y="4251960"/>
            <a:ext cx="4160520" cy="411480"/>
          </a:xfrm>
          <a:prstGeom prst="rect">
            <a:avLst/>
          </a:prstGeom>
          <a:solidFill>
            <a:srgbClr val="F9F9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3434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/ CI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783080" y="434340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Compose, Terraform, GitHub Actions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12070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</a:rPr>
              <a:t>Engineering practices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46320" y="1508760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1508760"/>
            <a:ext cx="45720" cy="56692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74336" y="156362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structure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74336" y="17830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Domain-driven app/domains/*; thin API routers; Pydantic settings in app/core/config.py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46320" y="2167128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46320" y="2167128"/>
            <a:ext cx="45720" cy="56692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74336" y="22219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74336" y="24414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backend/tests/unit/ — chat routing, verifier, quality gate JSON, generators with mocked LLM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2825496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846320" y="2825496"/>
            <a:ext cx="45720" cy="56692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74336" y="28803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974336" y="309981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Langfuse generation traces; latency budget warnings (chat_*_latency_budget_ms); no secrets in logs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846320" y="3483864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846320" y="3483864"/>
            <a:ext cx="45720" cy="56692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74336" y="35387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974336" y="375818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local; Terraform + GitHub Actions (deploy.yml, destroy.yml) for AWS-oriented cloud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846320" y="4142232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846320" y="4142232"/>
            <a:ext cx="45720" cy="56692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74336" y="419709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74336" y="44165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tiering at ingest + retrieve + pre-LLM; secret scanning; share surfaces rate-limited, revocable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0" y="457200"/>
            <a:ext cx="3291840" cy="3291840"/>
          </a:xfrm>
          <a:prstGeom prst="ellipse">
            <a:avLst/>
          </a:prstGeom>
          <a:solidFill>
            <a:srgbClr val="6366F1">
              <a:alpha val="1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097280"/>
            <a:ext cx="2194560" cy="2194560"/>
          </a:xfrm>
          <a:prstGeom prst="ellipse">
            <a:avLst/>
          </a:prstGeom>
          <a:solidFill>
            <a:srgbClr val="14B8A6">
              <a:alpha val="12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02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14B8A6"/>
                </a:solidFill>
              </a:rPr>
              <a:t>TAKEAWAY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841248"/>
            <a:ext cx="5303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answers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real work.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20040" y="248716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RAG with explicit guardrails, evidence verification, and a Pydantic-validated LLM judge — closer to production LLM systems than a single-shot demo.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34015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18CF8"/>
                </a:solidFill>
              </a:rPr>
              <a:t>Live demo surfaces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37307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twin config, source attach, memory brief, share link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409651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Public: /t/:slug — anonymous chat, grounded answers, no raw leaks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44622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Workspace: /w/:slug — routed or aggregate across all twins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" y="47548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docbase  •  omovoiye@gmail.com  • 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docbase — Grounded AI Twins</dc:title>
  <dc:subject>PptxGenJS Presentation</dc:subject>
  <dc:creator>PptxGenJS</dc:creator>
  <cp:lastModifiedBy>PptxGenJS</cp:lastModifiedBy>
  <cp:revision>1</cp:revision>
  <dcterms:created xsi:type="dcterms:W3CDTF">2026-04-24T11:49:43Z</dcterms:created>
  <dcterms:modified xsi:type="dcterms:W3CDTF">2026-04-24T11:49:43Z</dcterms:modified>
</cp:coreProperties>
</file>